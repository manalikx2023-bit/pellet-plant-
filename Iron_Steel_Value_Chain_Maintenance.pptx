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5029200"/>
            <a:ext cx="8046720" cy="1828800"/>
          </a:xfrm>
          <a:prstGeom prst="rect">
            <a:avLst/>
          </a:prstGeom>
          <a:solidFill>
            <a:srgbClr val="2E5A8E">
              <a:alpha val="40000"/>
            </a:srgbClr>
          </a:solidFill>
          <a:ln w="12700">
            <a:solidFill>
              <a:srgbClr val="2E5A8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1645920"/>
            <a:ext cx="64008" cy="3200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IRON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STEEL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Pain Points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Strategic Levers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0" y="283464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diagnostic across the full value chain — from raw material sourcing through iron-making, steel-making, rolling, and finishing — identifying critical failure modes and actionable maintenance strategies.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4663440"/>
            <a:ext cx="2194560" cy="1463040"/>
          </a:xfrm>
          <a:prstGeom prst="rect">
            <a:avLst/>
          </a:prstGeom>
          <a:solidFill>
            <a:srgbClr val="2E5A8E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709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5303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4663440"/>
            <a:ext cx="2194560" cy="1463040"/>
          </a:xfrm>
          <a:prstGeom prst="rect">
            <a:avLst/>
          </a:prstGeom>
          <a:solidFill>
            <a:srgbClr val="2E5A8E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709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5303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4663440"/>
            <a:ext cx="2194560" cy="1463040"/>
          </a:xfrm>
          <a:prstGeom prst="rect">
            <a:avLst/>
          </a:prstGeom>
          <a:solidFill>
            <a:srgbClr val="2E5A8E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4709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509760" y="5303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179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&amp; STEEL INDUSTRY — FULL VALUE CHAIN WITH MAINTENANCE PAIN POINTS &amp; LEVERS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192024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57400" y="1115568"/>
            <a:ext cx="182880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5688" y="1033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749808"/>
            <a:ext cx="1920240" cy="1005840"/>
          </a:xfrm>
          <a:prstGeom prst="rect">
            <a:avLst/>
          </a:prstGeom>
          <a:solidFill>
            <a:srgbClr val="2E5A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69080" y="1115568"/>
            <a:ext cx="182880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1033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749808"/>
            <a:ext cx="192024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1115568"/>
            <a:ext cx="182880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033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749808"/>
            <a:ext cx="192024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92440" y="1115568"/>
            <a:ext cx="182880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1033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3880" y="749808"/>
            <a:ext cx="1920240" cy="1005840"/>
          </a:xfrm>
          <a:prstGeom prst="rect">
            <a:avLst/>
          </a:prstGeom>
          <a:solidFill>
            <a:srgbClr val="5B4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104120" y="1115568"/>
            <a:ext cx="182880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2408" y="103327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02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95560" y="749808"/>
            <a:ext cx="192024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749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" y="1847088"/>
            <a:ext cx="24688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440" y="3950208"/>
            <a:ext cx="2286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3716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&amp; grade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Stockpile contamination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segregation loss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3716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716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moisture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stockyard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14884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4884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028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lining wear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14884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4884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4028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&amp; hopper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failure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14884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4884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4028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 heat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 fouling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14884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4884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4028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lining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14884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4884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4028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vibration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14884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884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4028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gas analysis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CBM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16052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6052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5196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BOF/EAF refractory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16052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6052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breakage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EAF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16052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6052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5196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 lining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16052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16052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5196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imaging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refractory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16052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6052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5196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electrode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16052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5196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 tracking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heat logs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17220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7220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6364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 oscillation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17220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7220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6364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bearing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overheating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617220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7220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6364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buildup 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stands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17220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7220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6364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 lubrication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617220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7220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6364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analysis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CMS sensors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17220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7220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6364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High-pressure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descaling systems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18388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8388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7532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thickness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non-uniformity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818388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18388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7532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 furnace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spots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818388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18388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7532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Pickling tank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818388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8388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27532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gauge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control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18388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8388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7532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 control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profiling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18388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18388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7532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Cathodic protection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lining renewal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10195560" y="2212848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195560" y="2212848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287000" y="22128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dispatch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0195560" y="2779776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195560" y="2779776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287000" y="277977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handling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10195560" y="3346704"/>
            <a:ext cx="1920240" cy="521208"/>
          </a:xfrm>
          <a:prstGeom prst="rect">
            <a:avLst/>
          </a:prstGeom>
          <a:solidFill>
            <a:srgbClr val="FEF0EF"/>
          </a:solidFill>
          <a:ln w="9525">
            <a:solidFill>
              <a:srgbClr val="F5BFB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195560" y="3346704"/>
            <a:ext cx="54864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87000" y="334670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10195560" y="4315968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195560" y="4315968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287000" y="431596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inspection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(camera)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0195560" y="4882896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95560" y="4882896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287000" y="48828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handling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0195560" y="5449824"/>
            <a:ext cx="1920240" cy="521208"/>
          </a:xfrm>
          <a:prstGeom prst="rect">
            <a:avLst/>
          </a:prstGeom>
          <a:solidFill>
            <a:srgbClr val="EAF7EE"/>
          </a:solidFill>
          <a:ln w="9525">
            <a:solidFill>
              <a:srgbClr val="A9DFB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195560" y="5449824"/>
            <a:ext cx="54864" cy="5212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287000" y="544982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RFID/ERP inventory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5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74320" y="662940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0"/>
                </a:solidFill>
              </a:rPr>
              <a:t>⚠ Pain Points    ✔ Solution Levers    — Subsequent slides provide in-depth detail per stage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MATERIAL SOURCING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 · Coking Coal · Limestone · Scrap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Fe% Variability &lt; ±0.5%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&lt; 8%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OEE &gt; 92%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Sinter Plant Availability &gt; 95%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Mining / Procurement → Beneficiation → Pelletizing/Sintering → Stockpiling → Quality Testing → Feed to Blast Furnace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Supplier Quality Variability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Fe% in iron ore leads to fluctuating blast furnace performance, increased coke rate, and higher energy consumption.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Moisture &amp; Grade Inconsistency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moisture causes BF disruptions; grade variation (SiO₂, Al₂O₃) requires constant slag chemistry adjustments.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Stockpile Contamination &amp; Segregation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Mixed-grade ore in stockpiles causes irregular sinter composition; dust and contamination degrade downstream quality.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Unplanned Equipment Downtime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Conveyors, stackers, reclaimers break down without warning. Single conveyor failure can halt entire raw material flow.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Sinter Plant Refractory Failures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Sintering strand and cooler refractories degrade rapidly, causing thermal inefficiency and unplanned shutdowns.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Supplier Scorecards &amp; Audit Programs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chemistry acceptance bands; use vendor KPIs and spot sampling to enforce quality SLAs before shipment.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Online Moisture Analyzers (Microwave/NIR)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moisture measurement on conveyors enables automatic blend corrections and prevents BF disruptions.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Stockyard Management Systems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GPS-tracked stackers/reclaimers with material database prevent grade mixing; optimize blending ratios dynamically.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Predictive Maintenance on Conveyors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sensors on bearings + thermal imaging on motors reduce MTTR by 40-60%; belt tear detection systems prevent catastrophic failures.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Digital Refractory Health Monitoring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cameras and periodic profile surveys on sinter strands predict lining life; schedule planned shutdowns instead of reactive repairs.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01: RAW MATERIAL SOURCING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2E5A8E"/>
          </a:solidFill>
          <a:ln w="12700">
            <a:solidFill>
              <a:srgbClr val="2E5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IRON MAKING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Furnace · Hot Stoves · Cast House · Torpedo Cars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Campaign Life &gt; 15 years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Rate &lt; 380 kg/THM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Temp &gt; 1200°C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Tuyere Burnout Rate &lt; 2/year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2E5A8E"/>
          </a:solidFill>
          <a:ln w="12700">
            <a:solidFill>
              <a:srgbClr val="2E5A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Burden Charging → Blast Furnace Smelting (1550°C) → Hot Metal Tapping → Slag Granulation → Torpedo Car Transport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Blast Furnace Lining Wear &amp; Erosion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buildup and carbon block erosion in BF hearth — the costliest failure mode. Unplanned relines cause 45-90 day outages worth $50-150M losses.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Bell &amp; Hopper / Bell-less Top Failure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equipment failures disrupt burden distribution, causing channeling, poor gas utilization, and thermal imbalances.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Hot Stove Heat Exchanger Fouling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and alkali deposit accumulation in stove checkers reduces blast temperature efficiency, increasing coke consumption.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Tuyere &amp; Blowpipe Burnouts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Tuyere copper block failures from local hot spots cause emergency shutdowns; average 4-6 tuyere changes/year per furnace.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Torpedo Car Refractory Degradation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Torpedo ladle linings crack and spall due to thermal cycling; hot metal temperature drops during transport affecting steelmaking quality.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BF Hearth Monitoring System (ABHMS)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arrays + skull modeling software provide real-time lining thickness estimates; early warning extends campaign life by 2-3 years.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Laser Profiling for Lining Wear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laser scanning during planned shutdowns maps wear patterns with ±2mm accuracy; enables targeted gunning and grouting campaigns.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Burden Distribution Optimization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X-ray burden profile sensors with AI-based distribution control improve gas utilization and reduce coke rate by 3-5%.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Online Gas Analysis &amp; CBM on Stoves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CO/CO₂/H₂ measurement + infrared thermography on stoves enables condition-based maintenance; prevents costly checker damage.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Tuyere Cooling Water Monitoring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temperature sensors on each tuyere cooling circuit give 15-30 min warning before burnout; enables planned replacement vs. emergency stop.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2E5A8E"/>
          </a:solidFill>
          <a:ln w="12700">
            <a:solidFill>
              <a:srgbClr val="2E5A8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02: IRON MAKING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STEEL MAKING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BOF / EAF → Ladle Metallurgy → Degassing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Life &gt; 250 heats (BOF)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Consumption &lt; 1.5 kg/t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Ladle MTBF &gt; 50 heats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Heat-to-Heat Time &lt; 40 min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Hot Metal Pretreatment → BOF/EAF Converter → Tapping → Ladle Furnace Refining → Vacuum Degassing → Alloy Addition → Transfer to Caster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BOF/EAF Refractory Degradation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vessel lining erodes 1-3mm per heat in high-wear zones (trunnion, charging side). Unplanned relines cost $2-5M in lost production.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EAF Electrode Breakage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 electrode breakage during operation causes immediate melt disruption; replacing mid-heat costs 2-4 hours of production time.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Ladle Lining Spalling &amp; Failure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shock causes ladle lining spalls; worst case is a ladle breakout — catastrophic safety incident with $10M+ cleanup costs.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Oxygen Blow Lance Failures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tip burnout or skull buildup interrupts blow control, causing inconsistent carbon and heat chemistry.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Vacuum Degasser Vessel Integrity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degasser vessel skulling and snorkel wear reduces degassing efficiency; affects ultra-low carbon steel quality targets.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Thermal Imaging for Refractory Life Prediction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cameras on BOF outer shell detect hot spots indicating lining wear; heat-by-heat tracking enables planned relines with 10-15 heat buffer.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AI-Based Electrode Consumption Optimizer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predict electrode length and regulate immersion depth; reduces electrode consumption by 8-12% and breakage events.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Ladle Tracking &amp; Heat Logging System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RFID-tagged ladles with thermal history logs prevent reuse of at-risk ladles; slag detection sensor at tapping prevents carry-over.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Dynamic BOF Lance Control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Sublance measurements + dynamic blow models adjust lance height and oxygen flow in real-time; hits target [C] within ±0.005% consistently.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RH Vessel Skull Management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oxygen lancing campaigns clear skull buildup; vessel lining profiling during turnarounds with planned gunning prevents campaign failures.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03: STEEL MAKING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CASTING &amp; ROLLING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Caster → Hot Rolling Mill → Coiler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Rate &lt; 0.05/month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Change MTTR &lt; 2 hrs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 Rate &lt; 0.5%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 Efficiency &gt; 82%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Tundish → Continuous Casting Mould → Strand Solidification → Slab/Billet Cutting → Reheating Furnace → Roughing Mill → Finishing Mill → Laminar Cooling → Coiling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Mould Oscillation Mechanism Failure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oscillation system failures cause strand sticking, breakouts, and surface cracks. Breakout events cause 8-24 hour cleanup shutdowns.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Roll Bearing Overheating in Rolling Mills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roll bearings fail from inadequate lubrication or contamination; unplanned roll change causes 4-8 hours of downtime per event.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Scale Buildup on Rolling Stands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 scale embedded into strip surface causes surface defect rejection rates of 2-5%; damages roll surfaces prematurely.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Reheating Furnace Burner &amp; Skid Failures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Burner failures create temperature non-uniformity in slabs (skid marks); leads to thickness variation and strip shape defects in rolling.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Coiler Mandrel &amp; Wrapper Roll Wear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Mandrel and wrapper roll wear causes coil telescoping and loose-wrap defects; increases customer rejection rate.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Mould Breakout Detection System (BODS)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matrices in mould + AI pattern recognition provide 30-90 second breakout warning; auto-triggers casting speed reduction and alarm.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Roll Shop with CBM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emission + vibration monitoring on roll bearings; roll surface inspection with profilometer; planned roll change scheduling.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High-Pressure Descaling System Optimization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high-pressure descaling (200-400 bar) with pressure profiling eliminates surface scale; AI-controlled spray patterns reduce water usage 15%.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Reheating Furnace Digital Twin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temperature control + furnace digital twin optimizes heating curves; reduces fuel consumption 5-8% and eliminates skid mark defects.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Strip Shape &amp; Profile Closed-Loop Control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thickness gauge + flatness meter feedback to rolling mill actuators (CVC, WRB); maintains ±0.3% thickness tolerance consistently.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04: CASTING &amp; ROLLING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FINISHING &amp; COATING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Pickling · Cold Rolling · Annealing · Galvanizing · Temper Mill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Weight CV &lt; 3%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Failure Rate &lt; 2/year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Loss &lt; 12 kg/t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HDG Dross &lt; 0.8% of zinc consumption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Hot-rolled Coil → Pickling Line → Cold Rolling Mill → Bell/CAL Annealing → Hot-dip Galvanizing (HDG) → Temper Mill → Inspection → Slitting/Cutting → Shipping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Coating Thickness Non-Uniformity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coating weight variation beyond ±5 g/m² causes customer rejections in automotive and appliance segments; difficult to detect post-line.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Annealing Furnace Hot Spots &amp; Tube Failures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tubes in bell furnaces crack from thermal cycling; localized hot spots cause overannealing, softness variation, and surface oxidation.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Pickling Tank Corrosion &amp; Acid Leaks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pickling tanks develop leaks from corrosion; acid fumes damage nearby equipment; unplanned shutdowns for repair cause schedule disruption.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Cold Mill Roll Force Asymmetry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Chattermarks and edge waviness from roll force imbalance; worn backup roll bearings cause vibration patterns transferred to strip surface.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Snout &amp; Pot Zinc Quality Degradation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Dross formation in galvanizing pot increases zinc consumption 8-12%; pot temperature non-uniformity creates coating adhesion failures.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Beta Gauge / X-ray Coating Thickness Control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coating weight control via beta/X-ray gauge feedback to air knife gap; achieves ±2 g/m² consistency across full strip width.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Radiant Tube Condition Monitoring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tube temperature scanning + dew point monitoring; planned tube replacement schedules prevent in-furnace failures and strip contamination.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Acid Concentration Control &amp; Tank Lining Renewal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HCl concentration control with dosing systems; FRP-lined tanks + periodic thickness inspection schedule prevents leaks.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Chatter Detection &amp; Roll Grinding Optimization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analysis on mill stands detects chatter modes; off-line roll grinder with automated SFC profile inspection optimizes grinding cycles.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Galvanizing Pot Digital Management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pot composition control (Al, Fe content) + bath temperature uniformity via immersion stirrers; dross removal robot reduces zinc loss 10%.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05: FINISHING &amp; COATING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DISTRIBUTION &amp; END PRODUCT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· Warehousing · Logistics · Customer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Defect Rate &lt; 0.2%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0" y="640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Damage &lt; 0.1%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Coverage 100%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solidFill>
            <a:srgbClr val="E8A020">
              <a:alpha val="80000"/>
            </a:srgbClr>
          </a:solidFill>
          <a:ln w="6350">
            <a:solidFill>
              <a:srgbClr val="C47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0" y="4754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Claim Resolution &lt; 5 days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82880" y="1024128"/>
            <a:ext cx="11795760" cy="384048"/>
          </a:xfrm>
          <a:prstGeom prst="rect">
            <a:avLst/>
          </a:prstGeom>
          <a:solidFill>
            <a:srgbClr val="EEF2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024128"/>
            <a:ext cx="54864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  Final Quality Inspection → Weighing &amp; Marking → Warehouse Storage → Order Picking → Loading (Road/Rail/Sea) → Customer Delivery → Claims Management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MAINTENANCE PAIN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92024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Surface Defects Detected at Dispatch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of coil-end defects, edge cracks, or surface inclusions causes costly rework or downgrade; average defect detection cost 5x higher at dispatch vs. in-process.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07208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Handling Damage During Loading/Transit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edge denting from improper crane handling or poor saddle design; inadequate strapping causes coil unwinding in transit.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694176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Inventory Tracking &amp; Traceability Gaps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labeling errors cause shipment of wrong grade; heat/batch traceability gaps create compliance risk for certified steel applications.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4581144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Corrosion During Storage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storage conditions (humidity, condensation) cause rust staining within 30-60 days; especially critical for cold-rolled and CRCA products.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5BFB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5468112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Customer Claims &amp; Warranty Management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heat-level data, root cause analysis of customer claims takes weeks; poor data causes unjustified warranty costs.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5087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SOLUTION LEVERS &amp; MAINTENANCE STRATEGIES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92024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920240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956816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AI-Powered Visual Inspection Systems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73368" y="21945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inspection cameras with deep learning models detect surface defects at line speed (&gt;200 m/min); automatic downgrade/rejection reduces dispatch rejections 70%.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28072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807208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437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Coil Handling Best Practices &amp; IoT Monitoring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73368" y="3081528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C-hooks with load cells; coil saddle IoT sensors detect improper stacking; automated coil car systems eliminate manual crane errors.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369417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694176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730752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RFID + ERP Full Traceability Platform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73368" y="3968496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tags on every coil/slab linked to heat records in ERP; full genealogy from raw material to customer enables instant recall and certification.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63640" y="458114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581144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4617720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Climate-Controlled Storage &amp; VCI Packaging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73368" y="4855464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Corrosion Inhibitor (VCI) packaging for sensitive products; humidity monitoring in warehouse; FIFO inventory rotation with automated planning.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546811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9DFB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5468112"/>
            <a:ext cx="64008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5504688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Digital Customer Claims Analytics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73368" y="574243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image database linked to process parameters enables rapid root cause analysis; trend analytics reduce repeat defect occurrences by 40-60%.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6693408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BDC9E0"/>
                </a:solidFill>
              </a:rPr>
              <a:t>Iron &amp; Steel Industry Value Chain — Stage 06: DISTRIBUTION &amp; END PRODUCT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CROSS-CUTTING MAINTENANCE LEVERS — STRATEGIC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2E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3794760" cy="502920"/>
          </a:xfrm>
          <a:prstGeom prst="rect">
            <a:avLst/>
          </a:prstGeom>
          <a:solidFill>
            <a:srgbClr val="2E5A8E"/>
          </a:solidFill>
          <a:ln w="12700">
            <a:solidFill>
              <a:srgbClr val="2E5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thermal &amp; acoustic monitoring on all critical rotating equipment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for failure prediction with 2-4 week horizon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CMMS for auto-generated work orders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7980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unplanned downtime 35-50%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914400"/>
            <a:ext cx="379476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9144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SIMULATION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14813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hearth, rolling mill, and reheating furnace digital twins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51960" y="19202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 state estimation from sensor fusion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235915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 for campaign life extension decisions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51960" y="27980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reline frequency by 10-20%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8160" y="91440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914400"/>
            <a:ext cx="3794760" cy="5029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9144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REFRACTORY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LIFECYCLE MGT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14813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laser scanning at every turnaround for wear mapping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19202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Heat-by-heat refractory consumption tracking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235915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gunning/shotcreting campaigns between relines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27980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converter campaign life by 15-25%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52044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520440"/>
            <a:ext cx="37947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520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087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sensors replace end-of-line quality checks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5262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Process Control on all key parameters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496519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inspection for 100% surface coverage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54041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quality-related losses by 40-60%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60520" y="352044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C47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60520" y="3520440"/>
            <a:ext cx="3794760" cy="502920"/>
          </a:xfrm>
          <a:prstGeom prst="rect">
            <a:avLst/>
          </a:prstGeom>
          <a:solidFill>
            <a:srgbClr val="C47800"/>
          </a:solidFill>
          <a:ln w="12700">
            <a:solidFill>
              <a:srgbClr val="C47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3520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UTILITY MGMT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4087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system across all utilities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51960" y="45262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network optimization (BFG/COG/steam balance)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51960" y="496519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air leak detection with ultrasonic sensors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51960" y="54041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 5-10% from systematic management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138160" y="3520440"/>
            <a:ext cx="3794760" cy="2423160"/>
          </a:xfrm>
          <a:prstGeom prst="rect">
            <a:avLst/>
          </a:prstGeom>
          <a:solidFill>
            <a:srgbClr val="132232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3520440"/>
            <a:ext cx="37947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520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WORKFORCE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4087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digital checklists replace paper round-sheets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5262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AR/VR-assisted maintenance procedures for complex tasks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96519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 from retiring craftsmen into AI systems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54041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8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craft error-related incidents by 60%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2E5A8E"/>
          </a:solidFill>
          <a:ln w="12700">
            <a:solidFill>
              <a:srgbClr val="2E5A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6656832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Building a Zero-Unplanned-Downtime Steel Plant requires simultaneous investment in technology, process discipline, and people capability.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 &amp; Steel Industry: Value Chain, Maintenance Pain Points &amp; Levers</dc:title>
  <dc:subject>PptxGenJS Presentation</dc:subject>
  <dc:creator>PptxGenJS</dc:creator>
  <cp:lastModifiedBy>PptxGenJS</cp:lastModifiedBy>
  <cp:revision>1</cp:revision>
  <dcterms:created xsi:type="dcterms:W3CDTF">2026-04-22T08:56:37Z</dcterms:created>
  <dcterms:modified xsi:type="dcterms:W3CDTF">2026-04-22T08:56:37Z</dcterms:modified>
</cp:coreProperties>
</file>