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31520"/>
            <a:ext cx="73152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132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PELLET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IQ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Dashboard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359152"/>
            <a:ext cx="356616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14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271576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ArcelorMittal Nippon Steel India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9900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" y="319125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Visakhapatnam (Vizag)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4655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366674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MTPA — Straight Grate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9410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41422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Ore Pelletizing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37760" y="411480"/>
            <a:ext cx="1600200" cy="219456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411480"/>
            <a:ext cx="1600200" cy="54864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566928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937760" y="11521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₹57 Cr/yr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937760" y="1572768"/>
            <a:ext cx="1600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Optimization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739128" y="411480"/>
            <a:ext cx="1600200" cy="219456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739128" y="411480"/>
            <a:ext cx="16002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056" y="566928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39128" y="11521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 Cr/yr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6739128" y="1572768"/>
            <a:ext cx="1600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Prediction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8540496" y="411480"/>
            <a:ext cx="1600200" cy="219456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540496" y="411480"/>
            <a:ext cx="1600200" cy="54864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566928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540496" y="11521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 Cr/yr</a:t>
            </a:r>
            <a:endParaRPr lang="en-US" sz="2000" dirty="0"/>
          </a:p>
        </p:txBody>
      </p:sp>
      <p:sp>
        <p:nvSpPr>
          <p:cNvPr id="31" name="Text 26"/>
          <p:cNvSpPr/>
          <p:nvPr/>
        </p:nvSpPr>
        <p:spPr>
          <a:xfrm>
            <a:off x="8540496" y="1572768"/>
            <a:ext cx="1600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Control AI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10341864" y="411480"/>
            <a:ext cx="1600200" cy="219456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10341864" y="411480"/>
            <a:ext cx="160020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566928"/>
            <a:ext cx="457200" cy="4572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0341864" y="11521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 Cr/yr</a:t>
            </a:r>
            <a:endParaRPr lang="en-US" sz="2000" dirty="0"/>
          </a:p>
        </p:txBody>
      </p:sp>
      <p:sp>
        <p:nvSpPr>
          <p:cNvPr id="36" name="Text 30"/>
          <p:cNvSpPr/>
          <p:nvPr/>
        </p:nvSpPr>
        <p:spPr>
          <a:xfrm>
            <a:off x="10341864" y="1572768"/>
            <a:ext cx="1600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Stacker Reclaimer Opt.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4937760" y="2816352"/>
            <a:ext cx="6949440" cy="822960"/>
          </a:xfrm>
          <a:prstGeom prst="rect">
            <a:avLst/>
          </a:prstGeom>
          <a:solidFill>
            <a:srgbClr val="1A56D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5029200" y="2852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AI VALUE POTENTIAL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5029200" y="30815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 112 – 154 Crore / Year</a:t>
            </a:r>
            <a:endParaRPr lang="en-US" sz="2600" dirty="0"/>
          </a:p>
        </p:txBody>
      </p:sp>
      <p:sp>
        <p:nvSpPr>
          <p:cNvPr id="40" name="Text 34"/>
          <p:cNvSpPr/>
          <p:nvPr/>
        </p:nvSpPr>
        <p:spPr>
          <a:xfrm>
            <a:off x="8778240" y="3264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MTPA basis · Conservative estimate · All use cases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4937760" y="382219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USE CASES — DEEP DIVES IN THIS DECK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4937760" y="4160520"/>
            <a:ext cx="64008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3" name="Text 37"/>
          <p:cNvSpPr/>
          <p:nvPr/>
        </p:nvSpPr>
        <p:spPr>
          <a:xfrm>
            <a:off x="5102352" y="41605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Induration Furnace Fuel Optimization — PINN + MPC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4937760" y="4672584"/>
            <a:ext cx="64008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Text 39"/>
          <p:cNvSpPr/>
          <p:nvPr/>
        </p:nvSpPr>
        <p:spPr>
          <a:xfrm>
            <a:off x="5102352" y="46725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Pellet Quality Prediction — Ensemble ML (RF + XGBoost + LSTM)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4937760" y="5184648"/>
            <a:ext cx="64008" cy="2926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7" name="Text 41"/>
          <p:cNvSpPr/>
          <p:nvPr/>
        </p:nvSpPr>
        <p:spPr>
          <a:xfrm>
            <a:off x="5102352" y="518464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Slurry &amp; Filtration Moisture Control — XGBoost + LSTM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4937760" y="5696712"/>
            <a:ext cx="64008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9" name="Text 43"/>
          <p:cNvSpPr/>
          <p:nvPr/>
        </p:nvSpPr>
        <p:spPr>
          <a:xfrm>
            <a:off x="5102352" y="569671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Stacker / Reclaimer Blend Optimization — Reinforcement Learning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51" name="Text 45"/>
          <p:cNvSpPr/>
          <p:nvPr/>
        </p:nvSpPr>
        <p:spPr>
          <a:xfrm>
            <a:off x="274320" y="6592824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by Capgemini Engineering &amp; AI Practice  ·  AM/NS Vizag  ·  2025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Transformation · 4 Priority Use Cases · Sensor Architecture · Industrial Benchmarking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532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73152" cy="1188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0700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6002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9385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AM/NS Vizag 8 MTPA Pellet Plant — Straight Grate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5532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87168"/>
            <a:ext cx="73152" cy="1188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55117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" y="29443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Fuel Optimization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2826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Induration Furnace · PINN + MPC · Sensor Architecture · Data Flow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831336"/>
            <a:ext cx="5532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831336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389534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" y="42885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Quality Prediction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46268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Pellet CCS/TI/AI · Ensemble ML · Soft Sensors · Data Flow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5175504"/>
            <a:ext cx="5532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5175504"/>
            <a:ext cx="73152" cy="11887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523951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0352" y="563270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Moisture Control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Slurry &amp; Filtration · XGBoost+LSTM · Sensors · Data Flow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63640" y="1143000"/>
            <a:ext cx="5532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143000"/>
            <a:ext cx="73152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428232" y="120700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28232" y="16002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Stacker Reclaimer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28232" y="19385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Optimization · RL Agent · Sensors · Data Flow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2487168"/>
            <a:ext cx="5532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487168"/>
            <a:ext cx="73152" cy="1188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2" name="Text 30"/>
          <p:cNvSpPr/>
          <p:nvPr/>
        </p:nvSpPr>
        <p:spPr>
          <a:xfrm>
            <a:off x="6428232" y="255117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28232" y="29443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Deep Dive &amp; Comparison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28232" y="32826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Sensors Analysed · Comparative Table · Preferred Recommendation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3831336"/>
            <a:ext cx="5532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3831336"/>
            <a:ext cx="73152" cy="1188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7" name="Text 35"/>
          <p:cNvSpPr/>
          <p:nvPr/>
        </p:nvSpPr>
        <p:spPr>
          <a:xfrm>
            <a:off x="6428232" y="389534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428232" y="42885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Industry Reference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28232" y="46268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Sensor Used Where · Steel / Mining / Cement / Chemical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63640" y="5175504"/>
            <a:ext cx="5532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5175504"/>
            <a:ext cx="73152" cy="1188720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42" name="Text 40"/>
          <p:cNvSpPr/>
          <p:nvPr/>
        </p:nvSpPr>
        <p:spPr>
          <a:xfrm>
            <a:off x="6428232" y="523951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428232" y="563270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Roadmap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28232" y="5971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 · Implementation Timeline · Next Steps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6592824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Capgemini Engineering &amp; AI Practice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AM/NS VIZAG — 8 MTPA STRAIGHT GRATE PELLET PLANT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Overview · Key Parameters · AI Intervention Points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737360" cy="25603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1737360" cy="64008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20700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783080"/>
            <a:ext cx="173736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YARD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" y="2212848"/>
            <a:ext cx="17373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Ore Fines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63.2% Fe · 9.8% moisture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77240" y="2798064"/>
            <a:ext cx="8229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2798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1,120 t/h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057400" y="2304288"/>
            <a:ext cx="20116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12848" y="2258568"/>
            <a:ext cx="64008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1"/>
          <p:cNvSpPr/>
          <p:nvPr/>
        </p:nvSpPr>
        <p:spPr>
          <a:xfrm>
            <a:off x="2258568" y="1078992"/>
            <a:ext cx="1737360" cy="25603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58568" y="1078992"/>
            <a:ext cx="1737360" cy="64008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20700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258568" y="1783080"/>
            <a:ext cx="173736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258568" y="2212848"/>
            <a:ext cx="17373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Mill Circuit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Blaine 1650-1750 cm²/g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2715768" y="2798064"/>
            <a:ext cx="822960" cy="2560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0" name="Text 16"/>
          <p:cNvSpPr/>
          <p:nvPr/>
        </p:nvSpPr>
        <p:spPr>
          <a:xfrm>
            <a:off x="2258568" y="2798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1,092 t/h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995928" y="2304288"/>
            <a:ext cx="20116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151376" y="2258568"/>
            <a:ext cx="64008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Shape 19"/>
          <p:cNvSpPr/>
          <p:nvPr/>
        </p:nvSpPr>
        <p:spPr>
          <a:xfrm>
            <a:off x="4197096" y="1078992"/>
            <a:ext cx="1737360" cy="25603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197096" y="1078992"/>
            <a:ext cx="1737360" cy="6400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207008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197096" y="1783080"/>
            <a:ext cx="173736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197096" y="2212848"/>
            <a:ext cx="17373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Disc Filters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8.6-9.1%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654296" y="2798064"/>
            <a:ext cx="82296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4"/>
          <p:cNvSpPr/>
          <p:nvPr/>
        </p:nvSpPr>
        <p:spPr>
          <a:xfrm>
            <a:off x="4197096" y="2798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1,045 t/h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5934456" y="2304288"/>
            <a:ext cx="20116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089904" y="2258568"/>
            <a:ext cx="64008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Shape 27"/>
          <p:cNvSpPr/>
          <p:nvPr/>
        </p:nvSpPr>
        <p:spPr>
          <a:xfrm>
            <a:off x="6135624" y="1078992"/>
            <a:ext cx="1737360" cy="25603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135624" y="1078992"/>
            <a:ext cx="1737360" cy="64008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1207008"/>
            <a:ext cx="457200" cy="4572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135624" y="1783080"/>
            <a:ext cx="173736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BALLING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6135624" y="2212848"/>
            <a:ext cx="17373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Pelletizers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Ball D50 12mm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6592824" y="2798064"/>
            <a:ext cx="82296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2"/>
          <p:cNvSpPr/>
          <p:nvPr/>
        </p:nvSpPr>
        <p:spPr>
          <a:xfrm>
            <a:off x="6135624" y="2798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1,028 t/h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7872984" y="2304288"/>
            <a:ext cx="20116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8028432" y="2258568"/>
            <a:ext cx="64008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Shape 35"/>
          <p:cNvSpPr/>
          <p:nvPr/>
        </p:nvSpPr>
        <p:spPr>
          <a:xfrm>
            <a:off x="8074152" y="1078992"/>
            <a:ext cx="1737360" cy="25603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8074152" y="1078992"/>
            <a:ext cx="1737360" cy="64008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1207008"/>
            <a:ext cx="457200" cy="45720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074152" y="1783080"/>
            <a:ext cx="173736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INDURATION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8074152" y="2212848"/>
            <a:ext cx="17373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Grate Furnace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1,280°C peak · 55 Mcal/t tgt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8531352" y="2798064"/>
            <a:ext cx="822960" cy="2560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7" name="Text 40"/>
          <p:cNvSpPr/>
          <p:nvPr/>
        </p:nvSpPr>
        <p:spPr>
          <a:xfrm>
            <a:off x="8074152" y="2798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1,002 t/h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9811512" y="2304288"/>
            <a:ext cx="20116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9966960" y="2258568"/>
            <a:ext cx="64008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0" name="Shape 43"/>
          <p:cNvSpPr/>
          <p:nvPr/>
        </p:nvSpPr>
        <p:spPr>
          <a:xfrm>
            <a:off x="10012680" y="1078992"/>
            <a:ext cx="1737360" cy="25603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10012680" y="1078992"/>
            <a:ext cx="1737360" cy="64008"/>
          </a:xfrm>
          <a:prstGeom prst="rect">
            <a:avLst/>
          </a:prstGeom>
          <a:solidFill>
            <a:srgbClr val="1A3A6B"/>
          </a:solidFill>
          <a:ln/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1207008"/>
            <a:ext cx="457200" cy="45720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10012680" y="1783080"/>
            <a:ext cx="173736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10012680" y="2212848"/>
            <a:ext cx="17373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Vibrating Screens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8-16mm product cut</a:t>
            </a:r>
            <a:endParaRPr lang="en-US" sz="800" dirty="0"/>
          </a:p>
        </p:txBody>
      </p:sp>
      <p:sp>
        <p:nvSpPr>
          <p:cNvPr id="55" name="Shape 47"/>
          <p:cNvSpPr/>
          <p:nvPr/>
        </p:nvSpPr>
        <p:spPr>
          <a:xfrm>
            <a:off x="10469880" y="2798064"/>
            <a:ext cx="822960" cy="25603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6" name="Text 48"/>
          <p:cNvSpPr/>
          <p:nvPr/>
        </p:nvSpPr>
        <p:spPr>
          <a:xfrm>
            <a:off x="10012680" y="2798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964 t/h</a:t>
            </a:r>
            <a:endParaRPr lang="en-US" sz="850" dirty="0"/>
          </a:p>
        </p:txBody>
      </p:sp>
      <p:sp>
        <p:nvSpPr>
          <p:cNvPr id="57" name="Shape 49"/>
          <p:cNvSpPr/>
          <p:nvPr/>
        </p:nvSpPr>
        <p:spPr>
          <a:xfrm>
            <a:off x="2258568" y="3767328"/>
            <a:ext cx="146304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8" name="Text 50"/>
          <p:cNvSpPr/>
          <p:nvPr/>
        </p:nvSpPr>
        <p:spPr>
          <a:xfrm>
            <a:off x="2258568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④ SR-AI</a:t>
            </a:r>
            <a:endParaRPr lang="en-US" sz="800" dirty="0"/>
          </a:p>
        </p:txBody>
      </p:sp>
      <p:sp>
        <p:nvSpPr>
          <p:cNvPr id="59" name="Shape 51"/>
          <p:cNvSpPr/>
          <p:nvPr/>
        </p:nvSpPr>
        <p:spPr>
          <a:xfrm>
            <a:off x="2990088" y="3639312"/>
            <a:ext cx="0" cy="137160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</p:sp>
      <p:sp>
        <p:nvSpPr>
          <p:cNvPr id="60" name="Shape 52"/>
          <p:cNvSpPr/>
          <p:nvPr/>
        </p:nvSpPr>
        <p:spPr>
          <a:xfrm>
            <a:off x="4197096" y="3767328"/>
            <a:ext cx="1463040" cy="2926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1" name="Text 53"/>
          <p:cNvSpPr/>
          <p:nvPr/>
        </p:nvSpPr>
        <p:spPr>
          <a:xfrm>
            <a:off x="4197096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③ Moisture AI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4928616" y="3639312"/>
            <a:ext cx="0" cy="137160"/>
          </a:xfrm>
          <a:prstGeom prst="line">
            <a:avLst/>
          </a:prstGeom>
          <a:noFill/>
          <a:ln w="19050">
            <a:solidFill>
              <a:srgbClr val="1A56DB"/>
            </a:solidFill>
            <a:prstDash val="dash"/>
          </a:ln>
        </p:spPr>
      </p:sp>
      <p:sp>
        <p:nvSpPr>
          <p:cNvPr id="63" name="Shape 55"/>
          <p:cNvSpPr/>
          <p:nvPr/>
        </p:nvSpPr>
        <p:spPr>
          <a:xfrm>
            <a:off x="6135624" y="3767328"/>
            <a:ext cx="14630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4" name="Text 56"/>
          <p:cNvSpPr/>
          <p:nvPr/>
        </p:nvSpPr>
        <p:spPr>
          <a:xfrm>
            <a:off x="6135624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Disc APC</a:t>
            </a:r>
            <a:endParaRPr lang="en-US" sz="800" dirty="0"/>
          </a:p>
        </p:txBody>
      </p:sp>
      <p:sp>
        <p:nvSpPr>
          <p:cNvPr id="65" name="Shape 57"/>
          <p:cNvSpPr/>
          <p:nvPr/>
        </p:nvSpPr>
        <p:spPr>
          <a:xfrm>
            <a:off x="6867144" y="3639312"/>
            <a:ext cx="0" cy="13716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</a:ln>
        </p:spPr>
      </p:sp>
      <p:sp>
        <p:nvSpPr>
          <p:cNvPr id="66" name="Shape 58"/>
          <p:cNvSpPr/>
          <p:nvPr/>
        </p:nvSpPr>
        <p:spPr>
          <a:xfrm>
            <a:off x="8074152" y="3767328"/>
            <a:ext cx="1463040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7" name="Text 59"/>
          <p:cNvSpPr/>
          <p:nvPr/>
        </p:nvSpPr>
        <p:spPr>
          <a:xfrm>
            <a:off x="8074152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① Furnace AI</a:t>
            </a:r>
            <a:endParaRPr lang="en-US" sz="800" dirty="0"/>
          </a:p>
        </p:txBody>
      </p:sp>
      <p:sp>
        <p:nvSpPr>
          <p:cNvPr id="68" name="Shape 60"/>
          <p:cNvSpPr/>
          <p:nvPr/>
        </p:nvSpPr>
        <p:spPr>
          <a:xfrm>
            <a:off x="8805672" y="3639312"/>
            <a:ext cx="0" cy="137160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69" name="Shape 61"/>
          <p:cNvSpPr/>
          <p:nvPr/>
        </p:nvSpPr>
        <p:spPr>
          <a:xfrm>
            <a:off x="320040" y="4187952"/>
            <a:ext cx="11521440" cy="347472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70" name="Text 62"/>
          <p:cNvSpPr/>
          <p:nvPr/>
        </p:nvSpPr>
        <p:spPr>
          <a:xfrm>
            <a:off x="411480" y="420624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PELLET QUALITY PREDICTION AI — monitors &amp; predicts across all stages (Green Ball → Indurated Pellet → Lab Result)</a:t>
            </a:r>
            <a:endParaRPr lang="en-US" sz="900" dirty="0"/>
          </a:p>
        </p:txBody>
      </p:sp>
      <p:sp>
        <p:nvSpPr>
          <p:cNvPr id="71" name="Shape 63"/>
          <p:cNvSpPr/>
          <p:nvPr/>
        </p:nvSpPr>
        <p:spPr>
          <a:xfrm>
            <a:off x="320040" y="4736592"/>
            <a:ext cx="1828800" cy="1810512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2" name="Text 64"/>
          <p:cNvSpPr/>
          <p:nvPr/>
        </p:nvSpPr>
        <p:spPr>
          <a:xfrm>
            <a:off x="320040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Fuel</a:t>
            </a:r>
            <a:endParaRPr lang="en-US" sz="800" dirty="0"/>
          </a:p>
        </p:txBody>
      </p:sp>
      <p:sp>
        <p:nvSpPr>
          <p:cNvPr id="73" name="Text 65"/>
          <p:cNvSpPr/>
          <p:nvPr/>
        </p:nvSpPr>
        <p:spPr>
          <a:xfrm>
            <a:off x="32004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A5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62.4</a:t>
            </a:r>
            <a:endParaRPr lang="en-US" sz="2400" dirty="0"/>
          </a:p>
        </p:txBody>
      </p:sp>
      <p:sp>
        <p:nvSpPr>
          <p:cNvPr id="74" name="Text 66"/>
          <p:cNvSpPr/>
          <p:nvPr/>
        </p:nvSpPr>
        <p:spPr>
          <a:xfrm>
            <a:off x="320040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55.0</a:t>
            </a:r>
            <a:endParaRPr lang="en-US" sz="1300" dirty="0"/>
          </a:p>
        </p:txBody>
      </p:sp>
      <p:sp>
        <p:nvSpPr>
          <p:cNvPr id="75" name="Text 67"/>
          <p:cNvSpPr/>
          <p:nvPr/>
        </p:nvSpPr>
        <p:spPr>
          <a:xfrm>
            <a:off x="320040" y="5833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Mcal/t</a:t>
            </a:r>
            <a:endParaRPr lang="en-US" sz="900" dirty="0"/>
          </a:p>
        </p:txBody>
      </p:sp>
      <p:sp>
        <p:nvSpPr>
          <p:cNvPr id="76" name="Text 68"/>
          <p:cNvSpPr/>
          <p:nvPr/>
        </p:nvSpPr>
        <p:spPr>
          <a:xfrm>
            <a:off x="320040" y="6108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00" dirty="0"/>
          </a:p>
        </p:txBody>
      </p:sp>
      <p:sp>
        <p:nvSpPr>
          <p:cNvPr id="77" name="Shape 69"/>
          <p:cNvSpPr/>
          <p:nvPr/>
        </p:nvSpPr>
        <p:spPr>
          <a:xfrm>
            <a:off x="2295144" y="4736592"/>
            <a:ext cx="1828800" cy="1810512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8" name="Text 70"/>
          <p:cNvSpPr/>
          <p:nvPr/>
        </p:nvSpPr>
        <p:spPr>
          <a:xfrm>
            <a:off x="2295144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</a:t>
            </a:r>
            <a:endParaRPr lang="en-US" sz="800" dirty="0"/>
          </a:p>
        </p:txBody>
      </p:sp>
      <p:sp>
        <p:nvSpPr>
          <p:cNvPr id="79" name="Text 71"/>
          <p:cNvSpPr/>
          <p:nvPr/>
        </p:nvSpPr>
        <p:spPr>
          <a:xfrm>
            <a:off x="2295144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A5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234</a:t>
            </a:r>
            <a:endParaRPr lang="en-US" sz="2400" dirty="0"/>
          </a:p>
        </p:txBody>
      </p:sp>
      <p:sp>
        <p:nvSpPr>
          <p:cNvPr id="80" name="Text 72"/>
          <p:cNvSpPr/>
          <p:nvPr/>
        </p:nvSpPr>
        <p:spPr>
          <a:xfrm>
            <a:off x="2295144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258</a:t>
            </a:r>
            <a:endParaRPr lang="en-US" sz="1300" dirty="0"/>
          </a:p>
        </p:txBody>
      </p:sp>
      <p:sp>
        <p:nvSpPr>
          <p:cNvPr id="81" name="Text 73"/>
          <p:cNvSpPr/>
          <p:nvPr/>
        </p:nvSpPr>
        <p:spPr>
          <a:xfrm>
            <a:off x="2295144" y="5833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daN/p</a:t>
            </a:r>
            <a:endParaRPr lang="en-US" sz="900" dirty="0"/>
          </a:p>
        </p:txBody>
      </p:sp>
      <p:sp>
        <p:nvSpPr>
          <p:cNvPr id="82" name="Text 74"/>
          <p:cNvSpPr/>
          <p:nvPr/>
        </p:nvSpPr>
        <p:spPr>
          <a:xfrm>
            <a:off x="2295144" y="6108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00" dirty="0"/>
          </a:p>
        </p:txBody>
      </p:sp>
      <p:sp>
        <p:nvSpPr>
          <p:cNvPr id="83" name="Shape 75"/>
          <p:cNvSpPr/>
          <p:nvPr/>
        </p:nvSpPr>
        <p:spPr>
          <a:xfrm>
            <a:off x="4270248" y="4736592"/>
            <a:ext cx="1828800" cy="1810512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4" name="Text 76"/>
          <p:cNvSpPr/>
          <p:nvPr/>
        </p:nvSpPr>
        <p:spPr>
          <a:xfrm>
            <a:off x="4270248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Tumble Index</a:t>
            </a:r>
            <a:endParaRPr lang="en-US" sz="800" dirty="0"/>
          </a:p>
        </p:txBody>
      </p:sp>
      <p:sp>
        <p:nvSpPr>
          <p:cNvPr id="85" name="Text 77"/>
          <p:cNvSpPr/>
          <p:nvPr/>
        </p:nvSpPr>
        <p:spPr>
          <a:xfrm>
            <a:off x="4270248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A5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93.8</a:t>
            </a:r>
            <a:endParaRPr lang="en-US" sz="2400" dirty="0"/>
          </a:p>
        </p:txBody>
      </p:sp>
      <p:sp>
        <p:nvSpPr>
          <p:cNvPr id="86" name="Text 78"/>
          <p:cNvSpPr/>
          <p:nvPr/>
        </p:nvSpPr>
        <p:spPr>
          <a:xfrm>
            <a:off x="4270248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95.5</a:t>
            </a:r>
            <a:endParaRPr lang="en-US" sz="1300" dirty="0"/>
          </a:p>
        </p:txBody>
      </p:sp>
      <p:sp>
        <p:nvSpPr>
          <p:cNvPr id="87" name="Text 79"/>
          <p:cNvSpPr/>
          <p:nvPr/>
        </p:nvSpPr>
        <p:spPr>
          <a:xfrm>
            <a:off x="4270248" y="5833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88" name="Text 80"/>
          <p:cNvSpPr/>
          <p:nvPr/>
        </p:nvSpPr>
        <p:spPr>
          <a:xfrm>
            <a:off x="4270248" y="6108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00" dirty="0"/>
          </a:p>
        </p:txBody>
      </p:sp>
      <p:sp>
        <p:nvSpPr>
          <p:cNvPr id="89" name="Shape 81"/>
          <p:cNvSpPr/>
          <p:nvPr/>
        </p:nvSpPr>
        <p:spPr>
          <a:xfrm>
            <a:off x="6245352" y="4736592"/>
            <a:ext cx="1828800" cy="1810512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0" name="Text 82"/>
          <p:cNvSpPr/>
          <p:nvPr/>
        </p:nvSpPr>
        <p:spPr>
          <a:xfrm>
            <a:off x="6245352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On-Size Yield</a:t>
            </a:r>
            <a:endParaRPr lang="en-US" sz="800" dirty="0"/>
          </a:p>
        </p:txBody>
      </p:sp>
      <p:sp>
        <p:nvSpPr>
          <p:cNvPr id="91" name="Text 83"/>
          <p:cNvSpPr/>
          <p:nvPr/>
        </p:nvSpPr>
        <p:spPr>
          <a:xfrm>
            <a:off x="6245352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A5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86.4</a:t>
            </a:r>
            <a:endParaRPr lang="en-US" sz="2400" dirty="0"/>
          </a:p>
        </p:txBody>
      </p:sp>
      <p:sp>
        <p:nvSpPr>
          <p:cNvPr id="92" name="Text 84"/>
          <p:cNvSpPr/>
          <p:nvPr/>
        </p:nvSpPr>
        <p:spPr>
          <a:xfrm>
            <a:off x="6245352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89.8</a:t>
            </a:r>
            <a:endParaRPr lang="en-US" sz="1300" dirty="0"/>
          </a:p>
        </p:txBody>
      </p:sp>
      <p:sp>
        <p:nvSpPr>
          <p:cNvPr id="93" name="Text 85"/>
          <p:cNvSpPr/>
          <p:nvPr/>
        </p:nvSpPr>
        <p:spPr>
          <a:xfrm>
            <a:off x="6245352" y="5833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94" name="Text 86"/>
          <p:cNvSpPr/>
          <p:nvPr/>
        </p:nvSpPr>
        <p:spPr>
          <a:xfrm>
            <a:off x="6245352" y="6108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00" dirty="0"/>
          </a:p>
        </p:txBody>
      </p:sp>
      <p:sp>
        <p:nvSpPr>
          <p:cNvPr id="95" name="Shape 87"/>
          <p:cNvSpPr/>
          <p:nvPr/>
        </p:nvSpPr>
        <p:spPr>
          <a:xfrm>
            <a:off x="8220456" y="4736592"/>
            <a:ext cx="1828800" cy="1810512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6" name="Text 88"/>
          <p:cNvSpPr/>
          <p:nvPr/>
        </p:nvSpPr>
        <p:spPr>
          <a:xfrm>
            <a:off x="8220456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00" dirty="0"/>
          </a:p>
        </p:txBody>
      </p:sp>
      <p:sp>
        <p:nvSpPr>
          <p:cNvPr id="97" name="Text 89"/>
          <p:cNvSpPr/>
          <p:nvPr/>
        </p:nvSpPr>
        <p:spPr>
          <a:xfrm>
            <a:off x="8220456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A5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94.2</a:t>
            </a:r>
            <a:endParaRPr lang="en-US" sz="2400" dirty="0"/>
          </a:p>
        </p:txBody>
      </p:sp>
      <p:sp>
        <p:nvSpPr>
          <p:cNvPr id="98" name="Text 90"/>
          <p:cNvSpPr/>
          <p:nvPr/>
        </p:nvSpPr>
        <p:spPr>
          <a:xfrm>
            <a:off x="8220456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95.5</a:t>
            </a:r>
            <a:endParaRPr lang="en-US" sz="1300" dirty="0"/>
          </a:p>
        </p:txBody>
      </p:sp>
      <p:sp>
        <p:nvSpPr>
          <p:cNvPr id="99" name="Text 91"/>
          <p:cNvSpPr/>
          <p:nvPr/>
        </p:nvSpPr>
        <p:spPr>
          <a:xfrm>
            <a:off x="8220456" y="5833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100" name="Text 92"/>
          <p:cNvSpPr/>
          <p:nvPr/>
        </p:nvSpPr>
        <p:spPr>
          <a:xfrm>
            <a:off x="8220456" y="6108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00" dirty="0"/>
          </a:p>
        </p:txBody>
      </p:sp>
      <p:sp>
        <p:nvSpPr>
          <p:cNvPr id="101" name="Shape 93"/>
          <p:cNvSpPr/>
          <p:nvPr/>
        </p:nvSpPr>
        <p:spPr>
          <a:xfrm>
            <a:off x="10195560" y="4736592"/>
            <a:ext cx="1828800" cy="1810512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2" name="Text 94"/>
          <p:cNvSpPr/>
          <p:nvPr/>
        </p:nvSpPr>
        <p:spPr>
          <a:xfrm>
            <a:off x="10195560" y="4773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(FC)</a:t>
            </a:r>
            <a:endParaRPr lang="en-US" sz="800" dirty="0"/>
          </a:p>
        </p:txBody>
      </p:sp>
      <p:sp>
        <p:nvSpPr>
          <p:cNvPr id="103" name="Text 95"/>
          <p:cNvSpPr/>
          <p:nvPr/>
        </p:nvSpPr>
        <p:spPr>
          <a:xfrm>
            <a:off x="1019556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A5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9.1</a:t>
            </a:r>
            <a:endParaRPr lang="en-US" sz="2400" dirty="0"/>
          </a:p>
        </p:txBody>
      </p:sp>
      <p:sp>
        <p:nvSpPr>
          <p:cNvPr id="104" name="Text 96"/>
          <p:cNvSpPr/>
          <p:nvPr/>
        </p:nvSpPr>
        <p:spPr>
          <a:xfrm>
            <a:off x="10195560" y="5532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8.6</a:t>
            </a:r>
            <a:endParaRPr lang="en-US" sz="1300" dirty="0"/>
          </a:p>
        </p:txBody>
      </p:sp>
      <p:sp>
        <p:nvSpPr>
          <p:cNvPr id="105" name="Text 97"/>
          <p:cNvSpPr/>
          <p:nvPr/>
        </p:nvSpPr>
        <p:spPr>
          <a:xfrm>
            <a:off x="10195560" y="5833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106" name="Text 98"/>
          <p:cNvSpPr/>
          <p:nvPr/>
        </p:nvSpPr>
        <p:spPr>
          <a:xfrm>
            <a:off x="10195560" y="6108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00" dirty="0"/>
          </a:p>
        </p:txBody>
      </p:sp>
      <p:sp>
        <p:nvSpPr>
          <p:cNvPr id="107" name="Shape 9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108" name="Text 100"/>
          <p:cNvSpPr/>
          <p:nvPr/>
        </p:nvSpPr>
        <p:spPr>
          <a:xfrm>
            <a:off x="274320" y="6592824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Capgemini Engineering &amp; AI Practice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INDURATION FURNACE FUEL OPTIMIZATION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5577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Neural Network (PINN) + Model Predictive Control · End-to-End Data 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0" y="164592"/>
            <a:ext cx="2286000" cy="5486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0" y="164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AM/NS VIZAG · 8 MTPA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1483941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5122" y="914400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815122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ball properties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Moisture, size, drop strength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chemistry, bentonite 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67405" y="1719072"/>
            <a:ext cx="9144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33303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33303" y="1051560"/>
            <a:ext cx="1483941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Shape 15"/>
          <p:cNvSpPr/>
          <p:nvPr/>
        </p:nvSpPr>
        <p:spPr>
          <a:xfrm>
            <a:off x="2474105" y="914400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2474105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33303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LAYER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33303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Thermocouples, O2/CO2 analyser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flow meters, pressure xmtrs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gas composition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26387" y="1719072"/>
            <a:ext cx="9144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92286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92286" y="1051560"/>
            <a:ext cx="1483941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Shape 22"/>
          <p:cNvSpPr/>
          <p:nvPr/>
        </p:nvSpPr>
        <p:spPr>
          <a:xfrm>
            <a:off x="4133088" y="914400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4133088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92286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/ SCADA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92286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PCS7 / OSIsoft 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capture @1-5s interval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 tags ingested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85370" y="1719072"/>
            <a:ext cx="9144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1269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51269" y="1051560"/>
            <a:ext cx="1483941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1" name="Shape 29"/>
          <p:cNvSpPr/>
          <p:nvPr/>
        </p:nvSpPr>
        <p:spPr>
          <a:xfrm>
            <a:off x="5792071" y="914400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5792071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1269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51269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 profiles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stoichiometry calc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rate normalization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44353" y="1719072"/>
            <a:ext cx="9144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10251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10251" y="1051560"/>
            <a:ext cx="1483941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Shape 36"/>
          <p:cNvSpPr/>
          <p:nvPr/>
        </p:nvSpPr>
        <p:spPr>
          <a:xfrm>
            <a:off x="7451054" y="914400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9" name="Text 37"/>
          <p:cNvSpPr/>
          <p:nvPr/>
        </p:nvSpPr>
        <p:spPr>
          <a:xfrm>
            <a:off x="7451054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10251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MODEL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10251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physics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NN layers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Zone-wise inference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403336" y="1719072"/>
            <a:ext cx="9144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69234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569234" y="1051560"/>
            <a:ext cx="1483941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5" name="Shape 43"/>
          <p:cNvSpPr/>
          <p:nvPr/>
        </p:nvSpPr>
        <p:spPr>
          <a:xfrm>
            <a:off x="9110037" y="914400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6" name="Text 44"/>
          <p:cNvSpPr/>
          <p:nvPr/>
        </p:nvSpPr>
        <p:spPr>
          <a:xfrm>
            <a:off x="9110037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569234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CONTROL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569234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setpoints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speed, fuel valves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Zone-wise dispatch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062319" y="1719072"/>
            <a:ext cx="9144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28217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228217" y="1051560"/>
            <a:ext cx="1483941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69019" y="914400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3" name="Text 51"/>
          <p:cNvSpPr/>
          <p:nvPr/>
        </p:nvSpPr>
        <p:spPr>
          <a:xfrm>
            <a:off x="10769019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228217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KPIs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228217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fuel 55 Mcal/t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258 daN/p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₹57 Cr/yr saving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2578608"/>
            <a:ext cx="11612880" cy="1572768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2578608"/>
            <a:ext cx="116128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8" name="Text 56"/>
          <p:cNvSpPr/>
          <p:nvPr/>
        </p:nvSpPr>
        <p:spPr>
          <a:xfrm>
            <a:off x="411480" y="26334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ENGINE — PINN + MPC — FURNACE COMBUSTION OPTIMIZATION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1148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5720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kinetics (Arrhenius), heat transfer coefficients and thermodynamic constraints embedded as physics loss terms. Trained on 4-yr operational data. Zero extrapolation risk beyond physics limits.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24612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3" name="Text 61"/>
          <p:cNvSpPr/>
          <p:nvPr/>
        </p:nvSpPr>
        <p:spPr>
          <a:xfrm>
            <a:off x="329184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(real-time)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29184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ball properties (moisture, size, drop #), ore chemistry (FeO, SiO2, CaO), atmospheric humidity, ambient temp, previous-zone fuel actuals — 180+ features updated every 30s.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08076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6" name="Text 64"/>
          <p:cNvSpPr/>
          <p:nvPr/>
        </p:nvSpPr>
        <p:spPr>
          <a:xfrm>
            <a:off x="612648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Controller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12648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provides forward simulation of furnace state; MPC optimizes 6-zone fuel setpoints to minimize total Mcal/t while maintaining CCS≥255 and TI≥95. Constraint-aware, DCS-integrated.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91540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9" name="Text 67"/>
          <p:cNvSpPr/>
          <p:nvPr/>
        </p:nvSpPr>
        <p:spPr>
          <a:xfrm>
            <a:off x="896112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(SHAP)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96112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drivers displayed for operator on each decision: zone temp deviation, green ball moisture, O2 excess, FeO level, draft pressure. Ensures operator trust and acceptance.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74320" y="4279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SENSORS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274320" y="4572000"/>
            <a:ext cx="54864" cy="12618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4" name="Text 72"/>
          <p:cNvSpPr/>
          <p:nvPr/>
        </p:nvSpPr>
        <p:spPr>
          <a:xfrm>
            <a:off x="384048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Thermocouple (K/R-type)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84048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Multiple Zones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84048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thermocouples per zone. K-type up to 1200°C; R-type (Pt/Rh) for 1300°C+ zones. Redundant pairs critical. ±0.75% accuracy.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596896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2596896" y="4572000"/>
            <a:ext cx="54864" cy="12618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9" name="Text 77"/>
          <p:cNvSpPr/>
          <p:nvPr/>
        </p:nvSpPr>
        <p:spPr>
          <a:xfrm>
            <a:off x="2706624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O2/CO2 In-Situ Analyser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706624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Gas · Zirconia cell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706624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Zirconia-based electrochemical O2 sensor + NDIR CO2. Positioned in waste gas ducts. Response time &lt;5s. Required for stoichiometric control.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919472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919472" y="4572000"/>
            <a:ext cx="54864" cy="12618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4" name="Text 82"/>
          <p:cNvSpPr/>
          <p:nvPr/>
        </p:nvSpPr>
        <p:spPr>
          <a:xfrm>
            <a:off x="5029200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Flow Meter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029200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Coriolis / Thermal Mass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029200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gas and combustion air flow. Coriolis preferred for accuracy (±0.2%); thermal mass for air ducts. Critical for Mcal/t calculation.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242048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7242048" y="4572000"/>
            <a:ext cx="54864" cy="12618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9" name="Text 87"/>
          <p:cNvSpPr/>
          <p:nvPr/>
        </p:nvSpPr>
        <p:spPr>
          <a:xfrm>
            <a:off x="7351776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Pressure Sensor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351776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Pressure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7351776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box to plenum chamber ΔP. Capacitive or piezo DP transmitters. Controls gas throughput per zone. Range 0-1500 Pa.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564624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9564624" y="4572000"/>
            <a:ext cx="54864" cy="12618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4" name="Text 92"/>
          <p:cNvSpPr/>
          <p:nvPr/>
        </p:nvSpPr>
        <p:spPr>
          <a:xfrm>
            <a:off x="9674352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Gas Pyrometer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9674352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Thermometer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9674352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Non-contact IR for pellet bed surface temp at discharge end. Complements thermocouple reading. ±5°C accuracy at 900-1100°C.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8" name="Text 96"/>
          <p:cNvSpPr/>
          <p:nvPr/>
        </p:nvSpPr>
        <p:spPr>
          <a:xfrm>
            <a:off x="274320" y="6592824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Capgemini Engineering &amp; AI Practice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PELLET QUALITY PREDICTION — CCS / TUMBLE / ABRASION INDEX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5577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ML: Random Forest + XGBoost + LSTM · 45-min Ahead Prediction · SHAP Explainability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0" y="164592"/>
            <a:ext cx="228600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0" y="164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AM/NS VIZAG · 8 MTPA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1483941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Shape 8"/>
          <p:cNvSpPr/>
          <p:nvPr/>
        </p:nvSpPr>
        <p:spPr>
          <a:xfrm>
            <a:off x="815122" y="91440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815122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BALL DATA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D50, D10/D90, moisture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test strength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throughput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67405" y="1719072"/>
            <a:ext cx="914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33303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33303" y="1051560"/>
            <a:ext cx="1483941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Shape 15"/>
          <p:cNvSpPr/>
          <p:nvPr/>
        </p:nvSpPr>
        <p:spPr>
          <a:xfrm>
            <a:off x="2474105" y="91440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2474105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33303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33303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temps (8 zones)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Fuel/air ratios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thickness, speed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26387" y="1719072"/>
            <a:ext cx="914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92286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92286" y="1051560"/>
            <a:ext cx="1483941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Shape 22"/>
          <p:cNvSpPr/>
          <p:nvPr/>
        </p:nvSpPr>
        <p:spPr>
          <a:xfrm>
            <a:off x="4133088" y="91440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133088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92286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CHEMISTRY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92286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FeO, SiO2, CaO, Al2O3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LOI, moisture batch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Blaine surface area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85370" y="1719072"/>
            <a:ext cx="914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1269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51269" y="1051560"/>
            <a:ext cx="1483941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Shape 29"/>
          <p:cNvSpPr/>
          <p:nvPr/>
        </p:nvSpPr>
        <p:spPr>
          <a:xfrm>
            <a:off x="5792071" y="91440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5792071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1269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MERGE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51269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Time-lag alignment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(45-min delay)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+ imputation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44353" y="1719072"/>
            <a:ext cx="914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10251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10251" y="1051560"/>
            <a:ext cx="1483941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Shape 36"/>
          <p:cNvSpPr/>
          <p:nvPr/>
        </p:nvSpPr>
        <p:spPr>
          <a:xfrm>
            <a:off x="7451054" y="91440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7451054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10251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10251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 base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time sequence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meta-learner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403336" y="1719072"/>
            <a:ext cx="914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69234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569234" y="1051560"/>
            <a:ext cx="1483941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Shape 43"/>
          <p:cNvSpPr/>
          <p:nvPr/>
        </p:nvSpPr>
        <p:spPr>
          <a:xfrm>
            <a:off x="9110037" y="91440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9110037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569234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FORECAST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569234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CCS, TI, AI predicted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 before lab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062319" y="1719072"/>
            <a:ext cx="914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28217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228217" y="1051560"/>
            <a:ext cx="1483941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69019" y="91440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3" name="Text 51"/>
          <p:cNvSpPr/>
          <p:nvPr/>
        </p:nvSpPr>
        <p:spPr>
          <a:xfrm>
            <a:off x="10769019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228217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ALERT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228217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 adjustment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pre-alert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prevention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2578608"/>
            <a:ext cx="11612880" cy="1572768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2578608"/>
            <a:ext cx="116128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8" name="Text 56"/>
          <p:cNvSpPr/>
          <p:nvPr/>
        </p:nvSpPr>
        <p:spPr>
          <a:xfrm>
            <a:off x="411480" y="26334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ENGINE — ENSEMBLE MODEL — CCS / TUMBLE INDEX / ABRASION INDEX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1148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(Base)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5720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trees, max-depth 12. Input: 80+ process/chemistry features. Captures non-linear interactions. SHAP values computed per prediction for operator explanation. Robust to noisy sensor data.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24612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3" name="Text 61"/>
          <p:cNvSpPr/>
          <p:nvPr/>
        </p:nvSpPr>
        <p:spPr>
          <a:xfrm>
            <a:off x="329184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(Base)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29184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trees; captures sharp transitions during blend changes or feed disruptions. Optimized for RMSE of CCS (±8 daN/p target). L1/L2 regularization to prevent overfit on chemistry changes.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08076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6" name="Text 64"/>
          <p:cNvSpPr/>
          <p:nvPr/>
        </p:nvSpPr>
        <p:spPr>
          <a:xfrm>
            <a:off x="612648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(Sequence Model)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12648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60-step (30-min) lookback on zone temperature trajectories, fuel flow history. Captures temporal patterns in induration profile evolution. Hidden dim 128, 2 layers, dropout 0.2.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91540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9" name="Text 67"/>
          <p:cNvSpPr/>
          <p:nvPr/>
        </p:nvSpPr>
        <p:spPr>
          <a:xfrm>
            <a:off x="896112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Meta-Learner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96112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meta-model combines RF + XGB + LSTM predictions. Output: CCS (target ≤±12 daN/p error), TI (±1.5%), AI (±0.3%). Prediction issued every 2 min with 45-min horizon.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74320" y="4279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SENSORS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274320" y="4572000"/>
            <a:ext cx="54864" cy="1261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4" name="Text 72"/>
          <p:cNvSpPr/>
          <p:nvPr/>
        </p:nvSpPr>
        <p:spPr>
          <a:xfrm>
            <a:off x="384048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Ball Drop Tester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84048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· Automated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84048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drum-drop tester on disc discharge belt. Samples every 15 min. Drop number &gt;6 = good forming. Direct predictor for final CCS.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596896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2596896" y="4572000"/>
            <a:ext cx="54864" cy="1261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9" name="Text 77"/>
          <p:cNvSpPr/>
          <p:nvPr/>
        </p:nvSpPr>
        <p:spPr>
          <a:xfrm>
            <a:off x="2706624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PSD Analyser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706624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Diffraction · Online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706624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CILAS or Malvern online PSD on green ball stream. D50, D10, D90 measured in real-time. Belt-mounted or slipstream. Critical for size dist. model input.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919472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919472" y="4572000"/>
            <a:ext cx="54864" cy="1261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4" name="Text 82"/>
          <p:cNvSpPr/>
          <p:nvPr/>
        </p:nvSpPr>
        <p:spPr>
          <a:xfrm>
            <a:off x="5029200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Moisture Sensor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029200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Near-Infrared · Non-contact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029200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On-belt NIR for green ball moisture before disc feed. Accuracy ±0.3%. Hydronix or Berthold preferred. Direct feed into LSTM sequence model.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242048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7242048" y="4572000"/>
            <a:ext cx="54864" cy="1261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9" name="Text 87"/>
          <p:cNvSpPr/>
          <p:nvPr/>
        </p:nvSpPr>
        <p:spPr>
          <a:xfrm>
            <a:off x="7351776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Thermocouple Array (PDHC)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351776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K/S-type · Zone mapped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7351776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Pre-heat, drying, firing, and cooling zone temps. Maps the full thermal history which is the dominant predictor of CCS. Redundant pairs per zone.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564624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9564624" y="4572000"/>
            <a:ext cx="54864" cy="1261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4" name="Text 92"/>
          <p:cNvSpPr/>
          <p:nvPr/>
        </p:nvSpPr>
        <p:spPr>
          <a:xfrm>
            <a:off x="9674352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XRF Analyser (Online)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9674352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Fluorescence · Belt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9674352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XRF on ore blend or slurry for FeO, SiO2, CaO, MgO. Thermo Fisher or Bruker. Updates chemistry features every 30s. Critical for flux ratio.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8" name="Text 96"/>
          <p:cNvSpPr/>
          <p:nvPr/>
        </p:nvSpPr>
        <p:spPr>
          <a:xfrm>
            <a:off x="274320" y="6592824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Capgemini Engineering &amp; AI Practice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SLURRY &amp; FILTRATION MOISTURE CONTROL AI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5577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LSTM Hybrid · 15-min Ahead Moisture Prediction · Vacuum &amp; Flocculant Prescriptions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0" y="164592"/>
            <a:ext cx="2286000" cy="5486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0" y="164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AM/NS VIZAG · 8 MTPA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1483941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Shape 8"/>
          <p:cNvSpPr/>
          <p:nvPr/>
        </p:nvSpPr>
        <p:spPr>
          <a:xfrm>
            <a:off x="815122" y="914400"/>
            <a:ext cx="402336" cy="40233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815122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SLURRY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Slurry density &amp; flow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content 35%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PSD (Blaine)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67405" y="1719072"/>
            <a:ext cx="9144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33303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33303" y="1051560"/>
            <a:ext cx="1483941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7" name="Shape 15"/>
          <p:cNvSpPr/>
          <p:nvPr/>
        </p:nvSpPr>
        <p:spPr>
          <a:xfrm>
            <a:off x="2474105" y="914400"/>
            <a:ext cx="402336" cy="40233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8" name="Text 16"/>
          <p:cNvSpPr/>
          <p:nvPr/>
        </p:nvSpPr>
        <p:spPr>
          <a:xfrm>
            <a:off x="2474105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33303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FEEDS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33303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disc filter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box level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Flocculant dosing rate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26387" y="1719072"/>
            <a:ext cx="9144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92286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92286" y="1051560"/>
            <a:ext cx="1483941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4" name="Shape 22"/>
          <p:cNvSpPr/>
          <p:nvPr/>
        </p:nvSpPr>
        <p:spPr>
          <a:xfrm>
            <a:off x="4133088" y="914400"/>
            <a:ext cx="402336" cy="40233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5" name="Text 23"/>
          <p:cNvSpPr/>
          <p:nvPr/>
        </p:nvSpPr>
        <p:spPr>
          <a:xfrm>
            <a:off x="4133088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92286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INPUTS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92286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moisture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cell (cake weight)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pressure ΔP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85370" y="1719072"/>
            <a:ext cx="9144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1269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51269" y="1051560"/>
            <a:ext cx="1483941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1" name="Shape 29"/>
          <p:cNvSpPr/>
          <p:nvPr/>
        </p:nvSpPr>
        <p:spPr>
          <a:xfrm>
            <a:off x="5792071" y="914400"/>
            <a:ext cx="402336" cy="40233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32" name="Text 30"/>
          <p:cNvSpPr/>
          <p:nvPr/>
        </p:nvSpPr>
        <p:spPr>
          <a:xfrm>
            <a:off x="5792071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1269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51269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OSIsoft PI Connector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1-sec resolution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validation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44353" y="1719072"/>
            <a:ext cx="9144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10251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10251" y="1051560"/>
            <a:ext cx="1483941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8" name="Shape 36"/>
          <p:cNvSpPr/>
          <p:nvPr/>
        </p:nvSpPr>
        <p:spPr>
          <a:xfrm>
            <a:off x="7451054" y="914400"/>
            <a:ext cx="402336" cy="40233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39" name="Text 37"/>
          <p:cNvSpPr/>
          <p:nvPr/>
        </p:nvSpPr>
        <p:spPr>
          <a:xfrm>
            <a:off x="7451054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10251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LSTM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10251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ahead forecast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deviation alert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±0.15% target accuracy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403336" y="1719072"/>
            <a:ext cx="9144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69234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569234" y="1051560"/>
            <a:ext cx="1483941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5" name="Shape 43"/>
          <p:cNvSpPr/>
          <p:nvPr/>
        </p:nvSpPr>
        <p:spPr>
          <a:xfrm>
            <a:off x="9110037" y="914400"/>
            <a:ext cx="402336" cy="40233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46" name="Text 44"/>
          <p:cNvSpPr/>
          <p:nvPr/>
        </p:nvSpPr>
        <p:spPr>
          <a:xfrm>
            <a:off x="9110037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569234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569234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pressure cmd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Flocculant dose adjust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rate modulate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062319" y="1719072"/>
            <a:ext cx="91440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28217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228217" y="1051560"/>
            <a:ext cx="1483941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69019" y="914400"/>
            <a:ext cx="402336" cy="402336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53" name="Text 51"/>
          <p:cNvSpPr/>
          <p:nvPr/>
        </p:nvSpPr>
        <p:spPr>
          <a:xfrm>
            <a:off x="10769019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228217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KPIs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228217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Moisture 8.6%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+6 daN/p indirect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 Cr/yr impact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2578608"/>
            <a:ext cx="11612880" cy="1572768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2578608"/>
            <a:ext cx="1161288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8" name="Text 56"/>
          <p:cNvSpPr/>
          <p:nvPr/>
        </p:nvSpPr>
        <p:spPr>
          <a:xfrm>
            <a:off x="411480" y="26334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ENGINE — XGBOOST + LSTM HYBRID — FILTER CAKE MOISTURE PREDICTION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1148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Static Features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5720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mineralogy (hardness, porosity), flocculant type and dosing rate, feed slurry solid %, filter disc RPM, number of active filter segments. Captures process setpoint relationships.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24612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3" name="Text 61"/>
          <p:cNvSpPr/>
          <p:nvPr/>
        </p:nvSpPr>
        <p:spPr>
          <a:xfrm>
            <a:off x="329184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Dynamic Sequence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29184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60-step (15-min) history of vacuum pressure, cake thickness (load cell), feed box level, and production rate. LSTM captures lag between vacuum adjustment and moisture response (8-12 min typical).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08076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6" name="Text 64"/>
          <p:cNvSpPr/>
          <p:nvPr/>
        </p:nvSpPr>
        <p:spPr>
          <a:xfrm>
            <a:off x="612648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Combiner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12648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prediction (static) + LSTM prediction (dynamic) combined via weighted average (0.35 / 0.65). Weights re-optimized weekly via rolling validation. Target: MAE &lt; 0.15% moisture.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91540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9" name="Text 67"/>
          <p:cNvSpPr/>
          <p:nvPr/>
        </p:nvSpPr>
        <p:spPr>
          <a:xfrm>
            <a:off x="896112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Actions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96112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predicted moisture &gt; 9.0%: increase vacuum by +50 mbar, reduce feed rate by 5%. If predicted moisture &lt; 8.3%: reduce vacuum by 30 mbar to save energy. Flocculant dose adjusted proportionally.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74320" y="4279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SENSORS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274320" y="4572000"/>
            <a:ext cx="54864" cy="12618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4" name="Text 72"/>
          <p:cNvSpPr/>
          <p:nvPr/>
        </p:nvSpPr>
        <p:spPr>
          <a:xfrm>
            <a:off x="384048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Moisture Sensor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84048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Transmission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84048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On-belt or in-chute. Berthold Gravimat or Vega. Penetrates bulk cake, ±0.2% accuracy. No contact — no wear. Update rate 1-2s. Primary moisture feedback.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596896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2596896" y="4572000"/>
            <a:ext cx="54864" cy="12618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9" name="Text 77"/>
          <p:cNvSpPr/>
          <p:nvPr/>
        </p:nvSpPr>
        <p:spPr>
          <a:xfrm>
            <a:off x="2706624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Cell (Belt Weigher)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706624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Gauge · Belt-mounted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706624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cake throughput measurement. Combined with moisture to give water tonnage/hr. Calibration monthly. Accuracy ±0.5% of full scale.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919472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919472" y="4572000"/>
            <a:ext cx="54864" cy="12618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4" name="Text 82"/>
          <p:cNvSpPr/>
          <p:nvPr/>
        </p:nvSpPr>
        <p:spPr>
          <a:xfrm>
            <a:off x="5029200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Pressure Transmitter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029200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Pressure · Piezo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029200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drum to vacuum receiver ΔP. 0-1 bar range. Capacitive DP or piezo. Key control variable — direct influence on moisture. Response &lt;1s.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242048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7242048" y="4572000"/>
            <a:ext cx="54864" cy="12618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9" name="Text 87"/>
          <p:cNvSpPr/>
          <p:nvPr/>
        </p:nvSpPr>
        <p:spPr>
          <a:xfrm>
            <a:off x="7351776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Meter (Slurry)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351776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/ Coriolis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7351776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Radiometric (Berthold) or Coriolis (Endress+Hauser) for slurry density at filter feed. Solid content calculation feed input to model. ±0.5 kg/L accuracy.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564624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9564624" y="4572000"/>
            <a:ext cx="54864" cy="12618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4" name="Text 92"/>
          <p:cNvSpPr/>
          <p:nvPr/>
        </p:nvSpPr>
        <p:spPr>
          <a:xfrm>
            <a:off x="9674352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Moisture (Discharge)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9674352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Near-Infrared · In-line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9674352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cake moisture validation at discharge conveyor. Hydronix HDi or Berthold LB 475. Closes the feedback loop between prediction and reality.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8" name="Text 96"/>
          <p:cNvSpPr/>
          <p:nvPr/>
        </p:nvSpPr>
        <p:spPr>
          <a:xfrm>
            <a:off x="274320" y="6592824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Capgemini Engineering &amp; AI Practice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9144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 STACKER / RECLAIMER BLEND OPTIMIZATION — RL AGENT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5577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Policy Optimization (PPO) · Fe Grade Homogeneity · Real-Time Blend Control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0" y="164592"/>
            <a:ext cx="228600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0" y="164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AM/NS VIZAG · 8 MTPA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1483941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Shape 8"/>
          <p:cNvSpPr/>
          <p:nvPr/>
        </p:nvSpPr>
        <p:spPr>
          <a:xfrm>
            <a:off x="815122" y="914400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15122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RECEIPT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Vessel/rake unloading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ore types (4-6)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certificates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67405" y="1719072"/>
            <a:ext cx="9144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33303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33303" y="1051560"/>
            <a:ext cx="1483941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5"/>
          <p:cNvSpPr/>
          <p:nvPr/>
        </p:nvSpPr>
        <p:spPr>
          <a:xfrm>
            <a:off x="2474105" y="914400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2474105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33303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MAPPING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33303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LIDAR 3D scan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pile inventory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chemistry model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26387" y="1719072"/>
            <a:ext cx="9144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92286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92286" y="1051560"/>
            <a:ext cx="1483941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2"/>
          <p:cNvSpPr/>
          <p:nvPr/>
        </p:nvSpPr>
        <p:spPr>
          <a:xfrm>
            <a:off x="4133088" y="914400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4133088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92286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TARGET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92286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Fe 63.5%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≤9.5%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Silica ≤3.5%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85370" y="1719072"/>
            <a:ext cx="9144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51269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51269" y="1051560"/>
            <a:ext cx="1483941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Shape 29"/>
          <p:cNvSpPr/>
          <p:nvPr/>
        </p:nvSpPr>
        <p:spPr>
          <a:xfrm>
            <a:off x="5792071" y="914400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5792071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1269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OBSERVATION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51269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pile chemistry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queue position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demand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44353" y="1719072"/>
            <a:ext cx="9144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10251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10251" y="1051560"/>
            <a:ext cx="1483941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Shape 36"/>
          <p:cNvSpPr/>
          <p:nvPr/>
        </p:nvSpPr>
        <p:spPr>
          <a:xfrm>
            <a:off x="7451054" y="914400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7451054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10251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10251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SR sequence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blend deviation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Penalty: switch cost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403336" y="1719072"/>
            <a:ext cx="9144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69234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569234" y="1051560"/>
            <a:ext cx="1483941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Shape 43"/>
          <p:cNvSpPr/>
          <p:nvPr/>
        </p:nvSpPr>
        <p:spPr>
          <a:xfrm>
            <a:off x="9110037" y="914400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9110037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569234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DISPATCH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569234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SR-1 / SR-2 commands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wheel RPM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speed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062319" y="1719072"/>
            <a:ext cx="9144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28217" y="1051560"/>
            <a:ext cx="1483941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228217" y="1051560"/>
            <a:ext cx="1483941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69019" y="914400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3" name="Text 51"/>
          <p:cNvSpPr/>
          <p:nvPr/>
        </p:nvSpPr>
        <p:spPr>
          <a:xfrm>
            <a:off x="10769019" y="914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228217" y="1152144"/>
            <a:ext cx="1483941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OUTCOME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228217" y="1508760"/>
            <a:ext cx="1483941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σ &lt; 0.19%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variation ↓46%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 Cr/yr impact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2578608"/>
            <a:ext cx="11612880" cy="1572768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74320" y="2578608"/>
            <a:ext cx="116128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8" name="Text 56"/>
          <p:cNvSpPr/>
          <p:nvPr/>
        </p:nvSpPr>
        <p:spPr>
          <a:xfrm>
            <a:off x="411480" y="263347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ENGINE — PROXIMAL POLICY OPTIMIZATION (PPO) — STACKER/RECLAIMER SEQUENCING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1148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5720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stockpile chemistry (Fe, SiO2, Al2O3, moisture) per layer/pile, SR-1 and SR-2 positions, production rate demand, reclaim queue length, ship unloading status. ~120-dim state vector.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24612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3" name="Text 61"/>
          <p:cNvSpPr/>
          <p:nvPr/>
        </p:nvSpPr>
        <p:spPr>
          <a:xfrm>
            <a:off x="329184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29184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which pile to reclaim next, set reclaim rate (t/h), set travel speed, activate/deactivate SR. Continuous action space for rate; discrete for pile selection. Multi-agent for SR-1 + SR-2.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08076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6" name="Text 64"/>
          <p:cNvSpPr/>
          <p:nvPr/>
        </p:nvSpPr>
        <p:spPr>
          <a:xfrm>
            <a:off x="612648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Function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12648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reward: −|blend_Fe − 63.5%| − 0.5×|blend_SiO2 − 3.2%|. Penalty: −0.2 per SR switch (energy cost). Bonus: +1.0 if running at target throughput. Discount factor γ=0.99.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915400" y="2999232"/>
            <a:ext cx="2697480" cy="10789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9" name="Text 67"/>
          <p:cNvSpPr/>
          <p:nvPr/>
        </p:nvSpPr>
        <p:spPr>
          <a:xfrm>
            <a:off x="896112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Deployment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961120" y="329184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trained in simulation (digital twin of ore yard). 10M simulation steps before live deployment. Shadow mode for 4 weeks before control handover. Online learning with daily reward updates.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74320" y="4279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SENSORS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74320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274320" y="4572000"/>
            <a:ext cx="54864" cy="12618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4" name="Text 72"/>
          <p:cNvSpPr/>
          <p:nvPr/>
        </p:nvSpPr>
        <p:spPr>
          <a:xfrm>
            <a:off x="384048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LIDAR Scanner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84048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Time-of-Flight · Yard-wide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84048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 LMS or Leica 3D scanner mounted on gantry. 360° coverage. Point cloud → stockpile volume + height map. Updates every 30 min. ±5 cm accuracy.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596896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2596896" y="4572000"/>
            <a:ext cx="54864" cy="12618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9" name="Text 77"/>
          <p:cNvSpPr/>
          <p:nvPr/>
        </p:nvSpPr>
        <p:spPr>
          <a:xfrm>
            <a:off x="2706624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XRF (Reclaim Belt)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706624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Fluorescence · Real-time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706624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 Fisher or Bruker on reclaim belt conveyor. Fe, SiO2, Al2O3, CaO, P, S measured every 30s. Forms real-time blend feedback to RL agent.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919472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919472" y="4572000"/>
            <a:ext cx="54864" cy="12618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4" name="Text 82"/>
          <p:cNvSpPr/>
          <p:nvPr/>
        </p:nvSpPr>
        <p:spPr>
          <a:xfrm>
            <a:off x="5029200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Moisture (Belt)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029200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Transmission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029200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reclaim belt conveyor. Moisture of reclaimed ore before grinding. Berthold or Vega. Updates blending model with actual moisture, not certificate.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242048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7242048" y="4572000"/>
            <a:ext cx="54864" cy="12618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9" name="Text 87"/>
          <p:cNvSpPr/>
          <p:nvPr/>
        </p:nvSpPr>
        <p:spPr>
          <a:xfrm>
            <a:off x="7351776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Weigher (Reclaim)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351776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Cell · Continuous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7351776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per hour on reclaim belt. Combined with XRF chemistry to give instantaneous blend composition. Accuracy ±0.5% of reading.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564624" y="4572000"/>
            <a:ext cx="2212848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9564624" y="4572000"/>
            <a:ext cx="54864" cy="12618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4" name="Text 92"/>
          <p:cNvSpPr/>
          <p:nvPr/>
        </p:nvSpPr>
        <p:spPr>
          <a:xfrm>
            <a:off x="9674352" y="459943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Encoder (SR Position)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9674352" y="487375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RTK-GPS + Rotary Encoder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9674352" y="5102352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SR boom position and travel distance. Sub-meter accuracy. Combined with LIDAR height map to identify reclaim zone chemistry per layer.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8" name="Text 96"/>
          <p:cNvSpPr/>
          <p:nvPr/>
        </p:nvSpPr>
        <p:spPr>
          <a:xfrm>
            <a:off x="274320" y="6592824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Capgemini Engineering &amp; AI Practice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SENSOR DEEP DIVE — TEMPERATURE &amp; COMBUSTION SENSORS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28600" y="5303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Induration Furnace · Comparative Analysis · Preferred Recommendation · Peer Reference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1612880" cy="320040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78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532888" y="978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31336" y="978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38344" y="978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45352" y="9784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406640" y="978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796528" y="978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AM/NS Vizag Recommendation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1298448"/>
            <a:ext cx="1161288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3441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K Thermocouple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(NiCr/NiAl)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32888" y="134416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−200 to 1260°C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31336" y="13441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±0.75%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38344" y="13441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45352" y="134416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06640" y="134416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750808" y="1335024"/>
            <a:ext cx="54864" cy="67665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8823960" y="1344168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Primary for zones 1-5 (up to 1200°C). Cost-effective, DCS-native. Replace every 3 months.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2103120"/>
            <a:ext cx="11612880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1488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R Thermocouple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(Pt13%Rh/Pt)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32888" y="21488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1600°C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31336" y="21488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±0.25%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38344" y="21488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45352" y="21488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06640" y="21488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750808" y="2139696"/>
            <a:ext cx="54864" cy="6766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8823960" y="2148840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 PREFERRED for firing zone (1250-1350°C). Platinum alloy — superior accuracy, longer life.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2907792"/>
            <a:ext cx="1161288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295351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 Thermocouple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(Pt10%Rh/Pt)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32888" y="295351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1600°C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31336" y="295351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±0.25%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38344" y="295351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45352" y="295351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06640" y="295351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750808" y="2944368"/>
            <a:ext cx="54864" cy="67665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0" name="Text 38"/>
          <p:cNvSpPr/>
          <p:nvPr/>
        </p:nvSpPr>
        <p:spPr>
          <a:xfrm>
            <a:off x="8823960" y="2953512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Alternative to R-type. Used where Type S calibration preferred. Similar performance.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3712464"/>
            <a:ext cx="11612880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37581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Pyrometer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(IR Non-contact)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532888" y="375818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to 1800°C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31336" y="3758184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±5°C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38344" y="3758184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45352" y="3758184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Med-High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06640" y="375818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750808" y="3749040"/>
            <a:ext cx="54864" cy="6766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Text 47"/>
          <p:cNvSpPr/>
          <p:nvPr/>
        </p:nvSpPr>
        <p:spPr>
          <a:xfrm>
            <a:off x="8823960" y="3758184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 for pellet bed surface at soaking/cooling transition. No drift, no replacement.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4320" y="4517136"/>
            <a:ext cx="1161288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" y="456285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Pyrometer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(2-color)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532888" y="456285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to 2000°C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831336" y="456285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±0.5%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038344" y="456285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45352" y="4562856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06640" y="456285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750808" y="4553712"/>
            <a:ext cx="54864" cy="67665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8" name="Text 56"/>
          <p:cNvSpPr/>
          <p:nvPr/>
        </p:nvSpPr>
        <p:spPr>
          <a:xfrm>
            <a:off x="8823960" y="4562856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very high-temp measurement. Emissivity-independent. Consider for critical firing zone.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5321808"/>
            <a:ext cx="11612880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0" name="Text 58"/>
          <p:cNvSpPr/>
          <p:nvPr/>
        </p:nvSpPr>
        <p:spPr>
          <a:xfrm>
            <a:off x="320040" y="536752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Thermowell + RTD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(Pt100)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532888" y="53675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 to 800°C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831336" y="536752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±0.1°C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38344" y="536752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5-15s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245352" y="536752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406640" y="53675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yr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750808" y="5358384"/>
            <a:ext cx="54864" cy="6766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7" name="Text 65"/>
          <p:cNvSpPr/>
          <p:nvPr/>
        </p:nvSpPr>
        <p:spPr>
          <a:xfrm>
            <a:off x="8823960" y="5367528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cooler section and gas header temp where precision needed but temp &lt;800°C.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9" name="Text 67"/>
          <p:cNvSpPr/>
          <p:nvPr/>
        </p:nvSpPr>
        <p:spPr>
          <a:xfrm>
            <a:off x="274320" y="6592824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Capgemini Engineering &amp; AI Practice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SENSOR DEEP DIVE — MOISTURE, COMPOSITION &amp; PARTICLE SIZE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28600" y="5303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 · Balling · Grinding Circuits · Recommended Technology vs Alternatives · Peer Industry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11612880" cy="320040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50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06040" y="9509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77640" y="9509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66360" y="9509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09360" y="9509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498080" y="9509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823960" y="9509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Preferred Make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1271016"/>
            <a:ext cx="11612880" cy="7223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316736"/>
            <a:ext cx="2176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Moisture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On-Belt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06040" y="1316736"/>
            <a:ext cx="1188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transmission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77640" y="131673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±0.2%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66360" y="1316736"/>
            <a:ext cx="960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09360" y="131673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Med-High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98080" y="1316736"/>
            <a:ext cx="1143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778240" y="1307592"/>
            <a:ext cx="54864" cy="6492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8851392" y="1316736"/>
            <a:ext cx="29992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 PREFERRED. Berthold Gravimat or Vega VEGAWAVE 81. Penetrates bulk. Non-contact. Proven in iron ore filtration globally.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2048256"/>
            <a:ext cx="11612880" cy="7223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093976"/>
            <a:ext cx="2176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Moisture Sensor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In-line / On-belt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06040" y="2093976"/>
            <a:ext cx="1188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Near-infrared reflectance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77640" y="209397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±0.3%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2093976"/>
            <a:ext cx="960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09360" y="209397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0" y="2093976"/>
            <a:ext cx="1143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778240" y="2084832"/>
            <a:ext cx="54864" cy="64922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1" name="Text 29"/>
          <p:cNvSpPr/>
          <p:nvPr/>
        </p:nvSpPr>
        <p:spPr>
          <a:xfrm>
            <a:off x="8851392" y="2093976"/>
            <a:ext cx="29992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for surface moisture. Hydronix HDi or Berthold LB 475. Less accurate for thick cakes. Use as secondary/validation sensor.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2825496"/>
            <a:ext cx="11612880" cy="7223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2871216"/>
            <a:ext cx="2176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 Moisture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(Probe)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06040" y="2871216"/>
            <a:ext cx="1188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Dielectric constant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77640" y="287121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±0.5%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66360" y="2871216"/>
            <a:ext cx="960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09360" y="287121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98080" y="2871216"/>
            <a:ext cx="1143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778240" y="2862072"/>
            <a:ext cx="54864" cy="6492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8851392" y="2871216"/>
            <a:ext cx="29992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only. Prone to fouling in iron ore slurry. Requires calibration per ore type. Not recommended as primary.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3602736"/>
            <a:ext cx="11612880" cy="7223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3648456"/>
            <a:ext cx="2176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Density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(Slurry)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606040" y="3648456"/>
            <a:ext cx="1188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ray absorption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977640" y="364845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±0.5 kg/L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66360" y="3648456"/>
            <a:ext cx="960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09360" y="364845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98080" y="3648456"/>
            <a:ext cx="1143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778240" y="3639312"/>
            <a:ext cx="54864" cy="6492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Text 47"/>
          <p:cNvSpPr/>
          <p:nvPr/>
        </p:nvSpPr>
        <p:spPr>
          <a:xfrm>
            <a:off x="8851392" y="3648456"/>
            <a:ext cx="29992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Berthold LB 444 for slurry density. Requires radiation licence. Highest accuracy. Used by most major iron ore plants.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4320" y="4379976"/>
            <a:ext cx="11612880" cy="7223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" y="4425696"/>
            <a:ext cx="2176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XRF Analyser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(Belt / In-stream)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606040" y="4425696"/>
            <a:ext cx="1188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fluorescence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977640" y="442569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±0.1% Fe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66360" y="4425696"/>
            <a:ext cx="960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09360" y="442569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98080" y="4425696"/>
            <a:ext cx="1143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778240" y="4416552"/>
            <a:ext cx="54864" cy="6492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8" name="Text 56"/>
          <p:cNvSpPr/>
          <p:nvPr/>
        </p:nvSpPr>
        <p:spPr>
          <a:xfrm>
            <a:off x="8851392" y="4425696"/>
            <a:ext cx="29992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 PREFERRED for chemistry. Thermo Fisher Metals Courier 7i or Bruker S2 KODIAK. 30s updates, multi-element.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5157216"/>
            <a:ext cx="11612880" cy="7223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0" name="Text 58"/>
          <p:cNvSpPr/>
          <p:nvPr/>
        </p:nvSpPr>
        <p:spPr>
          <a:xfrm>
            <a:off x="320040" y="5202936"/>
            <a:ext cx="2176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PSD Analyser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(Online)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606040" y="5202936"/>
            <a:ext cx="1188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diffraction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977640" y="520293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D50 ±2%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166360" y="5202936"/>
            <a:ext cx="960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309360" y="5202936"/>
            <a:ext cx="1005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498080" y="5202936"/>
            <a:ext cx="11430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778240" y="5193792"/>
            <a:ext cx="54864" cy="64922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7" name="Text 65"/>
          <p:cNvSpPr/>
          <p:nvPr/>
        </p:nvSpPr>
        <p:spPr>
          <a:xfrm>
            <a:off x="8851392" y="5202936"/>
            <a:ext cx="29992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Malvern Insitec or CILAS for green ball PSD. Slipstream configuration. D50 accuracy ±2% of reading. Key for yield prediction.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9" name="Text 67"/>
          <p:cNvSpPr/>
          <p:nvPr/>
        </p:nvSpPr>
        <p:spPr>
          <a:xfrm>
            <a:off x="274320" y="6592824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Capgemini Engineering &amp; AI Practice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PEER INDUSTRY SENSOR REFERENCES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303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Sensor Technology is Used Where — Steel · Mining · Cement · Chemicals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566928"/>
            <a:ext cx="1572768" cy="42062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" name="Text 5"/>
          <p:cNvSpPr/>
          <p:nvPr/>
        </p:nvSpPr>
        <p:spPr>
          <a:xfrm>
            <a:off x="1947672" y="566928"/>
            <a:ext cx="15361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R/S TC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(Hi-temp)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547872" y="566928"/>
            <a:ext cx="1572768" cy="42062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9" name="Text 7"/>
          <p:cNvSpPr/>
          <p:nvPr/>
        </p:nvSpPr>
        <p:spPr>
          <a:xfrm>
            <a:off x="3575304" y="566928"/>
            <a:ext cx="15361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175504" y="566928"/>
            <a:ext cx="1572768" cy="42062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1" name="Text 9"/>
          <p:cNvSpPr/>
          <p:nvPr/>
        </p:nvSpPr>
        <p:spPr>
          <a:xfrm>
            <a:off x="5202936" y="566928"/>
            <a:ext cx="15361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XRF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(Chemistry)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03136" y="566928"/>
            <a:ext cx="1572768" cy="42062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6830568" y="566928"/>
            <a:ext cx="15361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PSD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(Particle)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430768" y="566928"/>
            <a:ext cx="1572768" cy="42062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566928"/>
            <a:ext cx="15361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058400" y="566928"/>
            <a:ext cx="1572768" cy="42062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85832" y="566928"/>
            <a:ext cx="153619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Pyrometer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(Non-contact)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024128"/>
            <a:ext cx="1572768" cy="78638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1024128"/>
            <a:ext cx="1572768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(Pelletizing)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20240" y="1024128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1024128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547872" y="1024128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3547872" y="1024128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75504" y="1024128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175504" y="1024128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03136" y="1024128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803136" y="1024128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430768" y="1024128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8430768" y="1024128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0058400" y="1024128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0" y="1024128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74320" y="1865376"/>
            <a:ext cx="1572768" cy="78638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1865376"/>
            <a:ext cx="1572768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(Mining)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20240" y="1865376"/>
            <a:ext cx="1572768" cy="786384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35" name="Text 33"/>
          <p:cNvSpPr/>
          <p:nvPr/>
        </p:nvSpPr>
        <p:spPr>
          <a:xfrm>
            <a:off x="1920240" y="1865376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3547872" y="1865376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3547872" y="1865376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175504" y="1865376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5175504" y="1865376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803136" y="1865376"/>
            <a:ext cx="1572768" cy="786384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41" name="Text 39"/>
          <p:cNvSpPr/>
          <p:nvPr/>
        </p:nvSpPr>
        <p:spPr>
          <a:xfrm>
            <a:off x="6803136" y="1865376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430768" y="1865376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8430768" y="1865376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0058400" y="1865376"/>
            <a:ext cx="1572768" cy="786384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45" name="Text 43"/>
          <p:cNvSpPr/>
          <p:nvPr/>
        </p:nvSpPr>
        <p:spPr>
          <a:xfrm>
            <a:off x="10058400" y="1865376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274320" y="2706624"/>
            <a:ext cx="1572768" cy="78638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2706624"/>
            <a:ext cx="1572768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(Kiln)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920240" y="2706624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1920240" y="270662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3547872" y="2706624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3547872" y="270662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5175504" y="2706624"/>
            <a:ext cx="1572768" cy="786384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53" name="Text 51"/>
          <p:cNvSpPr/>
          <p:nvPr/>
        </p:nvSpPr>
        <p:spPr>
          <a:xfrm>
            <a:off x="5175504" y="270662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6803136" y="2706624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5" name="Text 53"/>
          <p:cNvSpPr/>
          <p:nvPr/>
        </p:nvSpPr>
        <p:spPr>
          <a:xfrm>
            <a:off x="6803136" y="270662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8430768" y="2706624"/>
            <a:ext cx="1572768" cy="786384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57" name="Text 55"/>
          <p:cNvSpPr/>
          <p:nvPr/>
        </p:nvSpPr>
        <p:spPr>
          <a:xfrm>
            <a:off x="8430768" y="270662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10058400" y="2706624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9" name="Text 57"/>
          <p:cNvSpPr/>
          <p:nvPr/>
        </p:nvSpPr>
        <p:spPr>
          <a:xfrm>
            <a:off x="10058400" y="2706624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274320" y="3547872"/>
            <a:ext cx="1572768" cy="78638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1" name="Text 59"/>
          <p:cNvSpPr/>
          <p:nvPr/>
        </p:nvSpPr>
        <p:spPr>
          <a:xfrm>
            <a:off x="274320" y="3547872"/>
            <a:ext cx="1572768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(Reactors)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920240" y="3547872"/>
            <a:ext cx="1572768" cy="786384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63" name="Text 61"/>
          <p:cNvSpPr/>
          <p:nvPr/>
        </p:nvSpPr>
        <p:spPr>
          <a:xfrm>
            <a:off x="1920240" y="3547872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4" name="Shape 62"/>
          <p:cNvSpPr/>
          <p:nvPr/>
        </p:nvSpPr>
        <p:spPr>
          <a:xfrm>
            <a:off x="3547872" y="3547872"/>
            <a:ext cx="1572768" cy="786384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65" name="Text 63"/>
          <p:cNvSpPr/>
          <p:nvPr/>
        </p:nvSpPr>
        <p:spPr>
          <a:xfrm>
            <a:off x="3547872" y="3547872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5175504" y="3547872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7" name="Text 65"/>
          <p:cNvSpPr/>
          <p:nvPr/>
        </p:nvSpPr>
        <p:spPr>
          <a:xfrm>
            <a:off x="5175504" y="3547872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6803136" y="3547872"/>
            <a:ext cx="1572768" cy="786384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69" name="Text 67"/>
          <p:cNvSpPr/>
          <p:nvPr/>
        </p:nvSpPr>
        <p:spPr>
          <a:xfrm>
            <a:off x="6803136" y="3547872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0" name="Shape 68"/>
          <p:cNvSpPr/>
          <p:nvPr/>
        </p:nvSpPr>
        <p:spPr>
          <a:xfrm>
            <a:off x="8430768" y="3547872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1" name="Text 69"/>
          <p:cNvSpPr/>
          <p:nvPr/>
        </p:nvSpPr>
        <p:spPr>
          <a:xfrm>
            <a:off x="8430768" y="3547872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72" name="Shape 70"/>
          <p:cNvSpPr/>
          <p:nvPr/>
        </p:nvSpPr>
        <p:spPr>
          <a:xfrm>
            <a:off x="10058400" y="3547872"/>
            <a:ext cx="1572768" cy="786384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73" name="Text 71"/>
          <p:cNvSpPr/>
          <p:nvPr/>
        </p:nvSpPr>
        <p:spPr>
          <a:xfrm>
            <a:off x="10058400" y="3547872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4" name="Shape 72"/>
          <p:cNvSpPr/>
          <p:nvPr/>
        </p:nvSpPr>
        <p:spPr>
          <a:xfrm>
            <a:off x="274320" y="4389120"/>
            <a:ext cx="1572768" cy="78638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5" name="Text 73"/>
          <p:cNvSpPr/>
          <p:nvPr/>
        </p:nvSpPr>
        <p:spPr>
          <a:xfrm>
            <a:off x="274320" y="4389120"/>
            <a:ext cx="1572768" cy="7863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(Boilers)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920240" y="4389120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7" name="Text 75"/>
          <p:cNvSpPr/>
          <p:nvPr/>
        </p:nvSpPr>
        <p:spPr>
          <a:xfrm>
            <a:off x="1920240" y="4389120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78" name="Shape 76"/>
          <p:cNvSpPr/>
          <p:nvPr/>
        </p:nvSpPr>
        <p:spPr>
          <a:xfrm>
            <a:off x="3547872" y="4389120"/>
            <a:ext cx="1572768" cy="78638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79" name="Text 77"/>
          <p:cNvSpPr/>
          <p:nvPr/>
        </p:nvSpPr>
        <p:spPr>
          <a:xfrm>
            <a:off x="3547872" y="4389120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>
            <a:off x="5175504" y="4389120"/>
            <a:ext cx="1572768" cy="78638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1" name="Text 79"/>
          <p:cNvSpPr/>
          <p:nvPr/>
        </p:nvSpPr>
        <p:spPr>
          <a:xfrm>
            <a:off x="5175504" y="4389120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2000" dirty="0"/>
          </a:p>
        </p:txBody>
      </p:sp>
      <p:sp>
        <p:nvSpPr>
          <p:cNvPr id="82" name="Shape 80"/>
          <p:cNvSpPr/>
          <p:nvPr/>
        </p:nvSpPr>
        <p:spPr>
          <a:xfrm>
            <a:off x="6803136" y="4389120"/>
            <a:ext cx="1572768" cy="78638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3" name="Text 81"/>
          <p:cNvSpPr/>
          <p:nvPr/>
        </p:nvSpPr>
        <p:spPr>
          <a:xfrm>
            <a:off x="6803136" y="4389120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2000" dirty="0"/>
          </a:p>
        </p:txBody>
      </p:sp>
      <p:sp>
        <p:nvSpPr>
          <p:cNvPr id="84" name="Shape 82"/>
          <p:cNvSpPr/>
          <p:nvPr/>
        </p:nvSpPr>
        <p:spPr>
          <a:xfrm>
            <a:off x="8430768" y="4389120"/>
            <a:ext cx="1572768" cy="786384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85" name="Text 83"/>
          <p:cNvSpPr/>
          <p:nvPr/>
        </p:nvSpPr>
        <p:spPr>
          <a:xfrm>
            <a:off x="8430768" y="4389120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6" name="Shape 84"/>
          <p:cNvSpPr/>
          <p:nvPr/>
        </p:nvSpPr>
        <p:spPr>
          <a:xfrm>
            <a:off x="10058400" y="4389120"/>
            <a:ext cx="157276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7" name="Text 85"/>
          <p:cNvSpPr/>
          <p:nvPr/>
        </p:nvSpPr>
        <p:spPr>
          <a:xfrm>
            <a:off x="10058400" y="4389120"/>
            <a:ext cx="1572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2000" dirty="0"/>
          </a:p>
        </p:txBody>
      </p:sp>
      <p:sp>
        <p:nvSpPr>
          <p:cNvPr id="88" name="Shape 86"/>
          <p:cNvSpPr/>
          <p:nvPr/>
        </p:nvSpPr>
        <p:spPr>
          <a:xfrm>
            <a:off x="274320" y="5468112"/>
            <a:ext cx="27432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9" name="Text 87"/>
          <p:cNvSpPr/>
          <p:nvPr/>
        </p:nvSpPr>
        <p:spPr>
          <a:xfrm>
            <a:off x="594360" y="5468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 Primary / Proven at scale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114800" y="5468112"/>
            <a:ext cx="274320" cy="201168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91" name="Text 89"/>
          <p:cNvSpPr/>
          <p:nvPr/>
        </p:nvSpPr>
        <p:spPr>
          <a:xfrm>
            <a:off x="4434840" y="5468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Used / Proven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315200" y="5468112"/>
            <a:ext cx="274320" cy="2011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93" name="Text 91"/>
          <p:cNvSpPr/>
          <p:nvPr/>
        </p:nvSpPr>
        <p:spPr>
          <a:xfrm>
            <a:off x="7635240" y="5468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Limited / Niche use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274320" y="5760720"/>
            <a:ext cx="3822192" cy="86868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274320" y="5760720"/>
            <a:ext cx="64008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6" name="Text 94"/>
          <p:cNvSpPr/>
          <p:nvPr/>
        </p:nvSpPr>
        <p:spPr>
          <a:xfrm>
            <a:off x="402336" y="5779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Ore / Pelletizing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402336" y="6035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moisture (Berthold) and nuclear density standard on all major pellet plants (South American producers, Nordic iron ore miners). Online XRF on reclaim belt is now near-universal in greenfield plants post-2015.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251960" y="5760720"/>
            <a:ext cx="3822192" cy="86868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4251960" y="5760720"/>
            <a:ext cx="64008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0" name="Text 98"/>
          <p:cNvSpPr/>
          <p:nvPr/>
        </p:nvSpPr>
        <p:spPr>
          <a:xfrm>
            <a:off x="4379976" y="5779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 (Kiln)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4379976" y="6035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S/R thermocouples with 6-month replacement cycle in preheater/kiln. Radiation pyrometers for clinker temp at kiln discharge. NIR moisture on raw meal — standard for 20+ years.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8229600" y="5760720"/>
            <a:ext cx="3822192" cy="86868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8229600" y="5760720"/>
            <a:ext cx="64008" cy="8686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4" name="Text 102"/>
          <p:cNvSpPr/>
          <p:nvPr/>
        </p:nvSpPr>
        <p:spPr>
          <a:xfrm>
            <a:off x="8357616" y="5779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(Reactors)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8357616" y="6035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XRF used extensively for catalyst quality and product composition monitoring. Nuclear density meters in slurry reactors. Coriolis flow meters preferred over magnetic for density measurement.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107" name="Text 105"/>
          <p:cNvSpPr/>
          <p:nvPr/>
        </p:nvSpPr>
        <p:spPr>
          <a:xfrm>
            <a:off x="274320" y="6592824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Capgemini Engineering &amp; AI Practice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 SENSOR RECOMMENDATION — AM/NS VIZAG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28600" y="51206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Preferred Sensor List · All 4 Use Cases · Technology, Make, Location, Priority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11612880" cy="320040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9144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75104" y="9144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56432" y="914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0" y="914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Make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516368" y="914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546336" y="914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460736" y="9144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234440"/>
            <a:ext cx="116128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1234440"/>
            <a:ext cx="64008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27101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Opt.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029968" y="127101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Temperature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511296" y="127101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R Thermocouple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541264" y="127101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 / Heraeus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571232" y="127101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zones × 3 ports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1289304"/>
            <a:ext cx="80467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9555480" y="12893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469880" y="12710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1545336"/>
            <a:ext cx="1161288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1545336"/>
            <a:ext cx="64008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158191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Opt.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029968" y="158191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/ CO2 Combustion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511296" y="15819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Zirconia O2 + NDIR CO2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541264" y="15819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Ultramat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571232" y="15819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gas ducts (6)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555480" y="1600200"/>
            <a:ext cx="80467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9555480" y="160020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469880" y="15819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1856232"/>
            <a:ext cx="116128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1856232"/>
            <a:ext cx="64008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189280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Opt.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029968" y="189280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Gas Flow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511296" y="18928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Coriolis Flow Meter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541264" y="18928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Endress+Hauser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571232" y="18928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gas headers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555480" y="1911096"/>
            <a:ext cx="804672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9555480" y="191109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0469880" y="189280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2167128"/>
            <a:ext cx="1161288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Shape 43"/>
          <p:cNvSpPr/>
          <p:nvPr/>
        </p:nvSpPr>
        <p:spPr>
          <a:xfrm>
            <a:off x="274320" y="2167128"/>
            <a:ext cx="64008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220370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Opt.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029968" y="220370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Pressure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511296" y="220370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Transmitter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541264" y="220370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 STD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571232" y="220370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box / plenum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555480" y="2221992"/>
            <a:ext cx="804672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2" name="Text 50"/>
          <p:cNvSpPr/>
          <p:nvPr/>
        </p:nvSpPr>
        <p:spPr>
          <a:xfrm>
            <a:off x="9555480" y="222199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0469880" y="22037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2478024"/>
            <a:ext cx="116128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274320" y="2478024"/>
            <a:ext cx="64008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6" name="Text 54"/>
          <p:cNvSpPr/>
          <p:nvPr/>
        </p:nvSpPr>
        <p:spPr>
          <a:xfrm>
            <a:off x="365760" y="251460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Pred.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029968" y="251460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Ball PSD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511296" y="251460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Diffraction PSD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541264" y="251460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Malvern Insitec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571232" y="251460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discharge belt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555480" y="2532888"/>
            <a:ext cx="80467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2" name="Text 60"/>
          <p:cNvSpPr/>
          <p:nvPr/>
        </p:nvSpPr>
        <p:spPr>
          <a:xfrm>
            <a:off x="9555480" y="253288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0469880" y="251460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2788920"/>
            <a:ext cx="1161288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5" name="Shape 63"/>
          <p:cNvSpPr/>
          <p:nvPr/>
        </p:nvSpPr>
        <p:spPr>
          <a:xfrm>
            <a:off x="274320" y="2788920"/>
            <a:ext cx="64008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282549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Pred.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029968" y="282549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Ball Moisture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511296" y="282549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Moisture Sensor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541264" y="282549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Hydronix HDi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571232" y="282549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Pre-disc feed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9555480" y="2843784"/>
            <a:ext cx="804672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2" name="Text 70"/>
          <p:cNvSpPr/>
          <p:nvPr/>
        </p:nvSpPr>
        <p:spPr>
          <a:xfrm>
            <a:off x="9555480" y="284378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10469880" y="282549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74320" y="3099816"/>
            <a:ext cx="116128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274320" y="3099816"/>
            <a:ext cx="64008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6" name="Text 74"/>
          <p:cNvSpPr/>
          <p:nvPr/>
        </p:nvSpPr>
        <p:spPr>
          <a:xfrm>
            <a:off x="365760" y="313639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Pred.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2029968" y="313639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Chemistry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3511296" y="31363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XRF Analyser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541264" y="31363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 Fisher MC7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571232" y="31363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+ filter feed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9555480" y="3154680"/>
            <a:ext cx="80467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2" name="Text 80"/>
          <p:cNvSpPr/>
          <p:nvPr/>
        </p:nvSpPr>
        <p:spPr>
          <a:xfrm>
            <a:off x="9555480" y="315468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10469880" y="31363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74320" y="3410712"/>
            <a:ext cx="1161288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5" name="Shape 83"/>
          <p:cNvSpPr/>
          <p:nvPr/>
        </p:nvSpPr>
        <p:spPr>
          <a:xfrm>
            <a:off x="274320" y="3410712"/>
            <a:ext cx="64008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6" name="Text 84"/>
          <p:cNvSpPr/>
          <p:nvPr/>
        </p:nvSpPr>
        <p:spPr>
          <a:xfrm>
            <a:off x="365760" y="344728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Pred.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2029968" y="344728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Surface Temp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3511296" y="344728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Pyrometer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5541264" y="344728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Cyclops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7571232" y="344728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Post-firing / cooling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9555480" y="3465576"/>
            <a:ext cx="804672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2" name="Text 90"/>
          <p:cNvSpPr/>
          <p:nvPr/>
        </p:nvSpPr>
        <p:spPr>
          <a:xfrm>
            <a:off x="9555480" y="346557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10469880" y="34472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74320" y="3721608"/>
            <a:ext cx="116128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hape 93"/>
          <p:cNvSpPr/>
          <p:nvPr/>
        </p:nvSpPr>
        <p:spPr>
          <a:xfrm>
            <a:off x="274320" y="3721608"/>
            <a:ext cx="64008" cy="2926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6" name="Text 94"/>
          <p:cNvSpPr/>
          <p:nvPr/>
        </p:nvSpPr>
        <p:spPr>
          <a:xfrm>
            <a:off x="365760" y="375818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AI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2029968" y="375818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Cake Moisture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3511296" y="37581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Moisture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5541264" y="37581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Berthold Gravimat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7571232" y="37581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discharge belt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9555480" y="3776472"/>
            <a:ext cx="80467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2" name="Text 100"/>
          <p:cNvSpPr/>
          <p:nvPr/>
        </p:nvSpPr>
        <p:spPr>
          <a:xfrm>
            <a:off x="9555480" y="377647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10469880" y="375818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74320" y="4032504"/>
            <a:ext cx="1161288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74320" y="4032504"/>
            <a:ext cx="64008" cy="2926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6" name="Text 104"/>
          <p:cNvSpPr/>
          <p:nvPr/>
        </p:nvSpPr>
        <p:spPr>
          <a:xfrm>
            <a:off x="365760" y="406908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AI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2029968" y="406908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Weight / Throughput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3511296" y="406908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Weigher (LC)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5541264" y="406908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Schenck Process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7571232" y="406908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discharge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9555480" y="4087368"/>
            <a:ext cx="804672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2" name="Text 110"/>
          <p:cNvSpPr/>
          <p:nvPr/>
        </p:nvSpPr>
        <p:spPr>
          <a:xfrm>
            <a:off x="9555480" y="408736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10469880" y="406908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274320" y="4343400"/>
            <a:ext cx="116128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74320" y="4343400"/>
            <a:ext cx="64008" cy="2926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6" name="Text 114"/>
          <p:cNvSpPr/>
          <p:nvPr/>
        </p:nvSpPr>
        <p:spPr>
          <a:xfrm>
            <a:off x="365760" y="437997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AI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2029968" y="437997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Pressure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3511296" y="437997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Transmitter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5541264" y="437997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Endress+Hauser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7571232" y="437997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drum–receiver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9555480" y="4398264"/>
            <a:ext cx="80467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2" name="Text 120"/>
          <p:cNvSpPr/>
          <p:nvPr/>
        </p:nvSpPr>
        <p:spPr>
          <a:xfrm>
            <a:off x="9555480" y="439826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10469880" y="437997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274320" y="4654296"/>
            <a:ext cx="1161288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5" name="Shape 123"/>
          <p:cNvSpPr/>
          <p:nvPr/>
        </p:nvSpPr>
        <p:spPr>
          <a:xfrm>
            <a:off x="274320" y="4654296"/>
            <a:ext cx="64008" cy="2926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26" name="Text 124"/>
          <p:cNvSpPr/>
          <p:nvPr/>
        </p:nvSpPr>
        <p:spPr>
          <a:xfrm>
            <a:off x="365760" y="4690872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AI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2029968" y="469087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Slurry Density</a:t>
            </a:r>
            <a:endParaRPr lang="en-US" sz="750" dirty="0"/>
          </a:p>
        </p:txBody>
      </p:sp>
      <p:sp>
        <p:nvSpPr>
          <p:cNvPr id="128" name="Text 126"/>
          <p:cNvSpPr/>
          <p:nvPr/>
        </p:nvSpPr>
        <p:spPr>
          <a:xfrm>
            <a:off x="3511296" y="469087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Density Meter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5541264" y="469087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Berthold LB 444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7571232" y="469087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feed line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9555480" y="4709160"/>
            <a:ext cx="804672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2" name="Text 130"/>
          <p:cNvSpPr/>
          <p:nvPr/>
        </p:nvSpPr>
        <p:spPr>
          <a:xfrm>
            <a:off x="9555480" y="470916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10469880" y="469087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274320" y="4965192"/>
            <a:ext cx="116128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Shape 133"/>
          <p:cNvSpPr/>
          <p:nvPr/>
        </p:nvSpPr>
        <p:spPr>
          <a:xfrm>
            <a:off x="274320" y="4965192"/>
            <a:ext cx="64008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6" name="Text 134"/>
          <p:cNvSpPr/>
          <p:nvPr/>
        </p:nvSpPr>
        <p:spPr>
          <a:xfrm>
            <a:off x="365760" y="5001768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Blend Opt.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2029968" y="500176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Stockpile Volume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3511296" y="500176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LIDAR Scanner</a:t>
            </a:r>
            <a:endParaRPr lang="en-US" sz="750" dirty="0"/>
          </a:p>
        </p:txBody>
      </p:sp>
      <p:sp>
        <p:nvSpPr>
          <p:cNvPr id="139" name="Text 137"/>
          <p:cNvSpPr/>
          <p:nvPr/>
        </p:nvSpPr>
        <p:spPr>
          <a:xfrm>
            <a:off x="5541264" y="500176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 LMS 511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7571232" y="500176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gantry (2 units)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9555480" y="5020056"/>
            <a:ext cx="804672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2" name="Text 140"/>
          <p:cNvSpPr/>
          <p:nvPr/>
        </p:nvSpPr>
        <p:spPr>
          <a:xfrm>
            <a:off x="9555480" y="502005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10469880" y="500176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274320" y="5276088"/>
            <a:ext cx="1161288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74320" y="5276088"/>
            <a:ext cx="64008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6" name="Text 144"/>
          <p:cNvSpPr/>
          <p:nvPr/>
        </p:nvSpPr>
        <p:spPr>
          <a:xfrm>
            <a:off x="365760" y="531266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Blend Opt.</a:t>
            </a:r>
            <a:endParaRPr lang="en-US" sz="750" dirty="0"/>
          </a:p>
        </p:txBody>
      </p:sp>
      <p:sp>
        <p:nvSpPr>
          <p:cNvPr id="147" name="Text 145"/>
          <p:cNvSpPr/>
          <p:nvPr/>
        </p:nvSpPr>
        <p:spPr>
          <a:xfrm>
            <a:off x="2029968" y="531266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Chemistry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3511296" y="531266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XRF (Belt)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5541264" y="531266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 Fisher MC7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7571232" y="531266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belt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9555480" y="5330952"/>
            <a:ext cx="80467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2" name="Text 150"/>
          <p:cNvSpPr/>
          <p:nvPr/>
        </p:nvSpPr>
        <p:spPr>
          <a:xfrm>
            <a:off x="9555480" y="533095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153" name="Text 151"/>
          <p:cNvSpPr/>
          <p:nvPr/>
        </p:nvSpPr>
        <p:spPr>
          <a:xfrm>
            <a:off x="10469880" y="531266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274320" y="5586984"/>
            <a:ext cx="116128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Shape 153"/>
          <p:cNvSpPr/>
          <p:nvPr/>
        </p:nvSpPr>
        <p:spPr>
          <a:xfrm>
            <a:off x="274320" y="5586984"/>
            <a:ext cx="64008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6" name="Text 154"/>
          <p:cNvSpPr/>
          <p:nvPr/>
        </p:nvSpPr>
        <p:spPr>
          <a:xfrm>
            <a:off x="365760" y="562356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Blend Opt.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2029968" y="562356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Moisture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3511296" y="562356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Moisture</a:t>
            </a:r>
            <a:endParaRPr lang="en-US" sz="750" dirty="0"/>
          </a:p>
        </p:txBody>
      </p:sp>
      <p:sp>
        <p:nvSpPr>
          <p:cNvPr id="159" name="Text 157"/>
          <p:cNvSpPr/>
          <p:nvPr/>
        </p:nvSpPr>
        <p:spPr>
          <a:xfrm>
            <a:off x="5541264" y="562356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Berthold Gravimat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7571232" y="562356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belt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9555480" y="5641848"/>
            <a:ext cx="804672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2" name="Text 160"/>
          <p:cNvSpPr/>
          <p:nvPr/>
        </p:nvSpPr>
        <p:spPr>
          <a:xfrm>
            <a:off x="9555480" y="564184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10469880" y="562356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5" name="Text 163"/>
          <p:cNvSpPr/>
          <p:nvPr/>
        </p:nvSpPr>
        <p:spPr>
          <a:xfrm>
            <a:off x="274320" y="6592824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Capgemini Engineering &amp; AI Practice · Total 133 sensor instruments across 4 AI use cases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VALUE SUMMARY — ALL 4 USE CASES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53035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MTPA · AM/NS Vizag · Annual Value Projection · Conservative Estimates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88920" cy="237744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88920" cy="64008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1155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1700784"/>
            <a:ext cx="27889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Fuel Optimization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74320" y="208483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 57.3 Cr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74320" y="257860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7889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 fuel reduction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1480" y="30358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62.4→55.0 Mcal/t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46120" y="1005840"/>
            <a:ext cx="2788920" cy="237744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1005840"/>
            <a:ext cx="2788920" cy="6400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11556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46120" y="1700784"/>
            <a:ext cx="27889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Quality Prediction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246120" y="208483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 36.3 Cr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3246120" y="257860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83280" y="27889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 daN/p CCS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383280" y="30358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−60% rejections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217920" y="1005840"/>
            <a:ext cx="2788920" cy="237744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1005840"/>
            <a:ext cx="2788920" cy="64008"/>
          </a:xfrm>
          <a:prstGeom prst="rect">
            <a:avLst/>
          </a:prstGeom>
          <a:solidFill>
            <a:srgbClr val="1A56D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1115568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7920" y="1700784"/>
            <a:ext cx="27889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Moisture Control AI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217920" y="208483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56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 16.8 Cr</a:t>
            </a:r>
            <a:endParaRPr lang="en-US" sz="3000" dirty="0"/>
          </a:p>
        </p:txBody>
      </p:sp>
      <p:sp>
        <p:nvSpPr>
          <p:cNvPr id="27" name="Text 22"/>
          <p:cNvSpPr/>
          <p:nvPr/>
        </p:nvSpPr>
        <p:spPr>
          <a:xfrm>
            <a:off x="6217920" y="257860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355080" y="27889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−0.5% moisture dev.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355080" y="30358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 t/h yield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9189720" y="1005840"/>
            <a:ext cx="2788920" cy="237744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189720" y="1005840"/>
            <a:ext cx="2788920" cy="64008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115568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89720" y="1700784"/>
            <a:ext cx="27889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Stacker Reclaimer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9189720" y="208483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 11.2 Cr</a:t>
            </a:r>
            <a:endParaRPr lang="en-US" sz="3000" dirty="0"/>
          </a:p>
        </p:txBody>
      </p:sp>
      <p:sp>
        <p:nvSpPr>
          <p:cNvPr id="35" name="Text 29"/>
          <p:cNvSpPr/>
          <p:nvPr/>
        </p:nvSpPr>
        <p:spPr>
          <a:xfrm>
            <a:off x="9189720" y="257860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9326880" y="27889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σ 0.35→0.19%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9326880" y="30358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−46% blend variance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274320" y="3520440"/>
            <a:ext cx="11612880" cy="804672"/>
          </a:xfrm>
          <a:prstGeom prst="rect">
            <a:avLst/>
          </a:prstGeom>
          <a:solidFill>
            <a:srgbClr val="1A56DB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45720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PROGRAMME VALUE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457200" y="381304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 112 – 154 Crore / Year</a:t>
            </a:r>
            <a:endParaRPr lang="en-US" sz="3200" dirty="0"/>
          </a:p>
        </p:txBody>
      </p:sp>
      <p:sp>
        <p:nvSpPr>
          <p:cNvPr id="41" name="Text 35"/>
          <p:cNvSpPr/>
          <p:nvPr/>
        </p:nvSpPr>
        <p:spPr>
          <a:xfrm>
            <a:off x="7315200" y="3749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cumulative: ₹336 – 462 Cr  ·  IRR &gt;180%  ·  Payback &lt;8 months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274320" y="4462272"/>
            <a:ext cx="2788920" cy="2148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3" name="Shape 37"/>
          <p:cNvSpPr/>
          <p:nvPr/>
        </p:nvSpPr>
        <p:spPr>
          <a:xfrm>
            <a:off x="274320" y="4462272"/>
            <a:ext cx="278892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4" name="Text 38"/>
          <p:cNvSpPr/>
          <p:nvPr/>
        </p:nvSpPr>
        <p:spPr>
          <a:xfrm>
            <a:off x="274320" y="4480560"/>
            <a:ext cx="27889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(Q1–Q2)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274320" y="4919472"/>
            <a:ext cx="27889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411480" y="5230368"/>
            <a:ext cx="2514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infrastructure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AI models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3063240" y="5349240"/>
            <a:ext cx="0" cy="0"/>
          </a:xfrm>
          <a:prstGeom prst="line">
            <a:avLst/>
          </a:prstGeom>
          <a:noFill/>
          <a:ln w="6350">
            <a:solidFill>
              <a:srgbClr val="1A56DB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3246120" y="4462272"/>
            <a:ext cx="2788920" cy="2148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9" name="Shape 43"/>
          <p:cNvSpPr/>
          <p:nvPr/>
        </p:nvSpPr>
        <p:spPr>
          <a:xfrm>
            <a:off x="3246120" y="4462272"/>
            <a:ext cx="2788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0" name="Text 44"/>
          <p:cNvSpPr/>
          <p:nvPr/>
        </p:nvSpPr>
        <p:spPr>
          <a:xfrm>
            <a:off x="3246120" y="4480560"/>
            <a:ext cx="27889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(Q3–Q4)</a:t>
            </a:r>
            <a:endParaRPr lang="en-US" sz="950" dirty="0"/>
          </a:p>
        </p:txBody>
      </p:sp>
      <p:sp>
        <p:nvSpPr>
          <p:cNvPr id="51" name="Text 45"/>
          <p:cNvSpPr/>
          <p:nvPr/>
        </p:nvSpPr>
        <p:spPr>
          <a:xfrm>
            <a:off x="3246120" y="4919472"/>
            <a:ext cx="27889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Use Cases 1–2</a:t>
            </a:r>
            <a:endParaRPr lang="en-US" sz="1100" dirty="0"/>
          </a:p>
        </p:txBody>
      </p:sp>
      <p:sp>
        <p:nvSpPr>
          <p:cNvPr id="52" name="Text 46"/>
          <p:cNvSpPr/>
          <p:nvPr/>
        </p:nvSpPr>
        <p:spPr>
          <a:xfrm>
            <a:off x="3383280" y="5230368"/>
            <a:ext cx="2514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AI + MPC live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prediction live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6035040" y="5349240"/>
            <a:ext cx="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6217920" y="4462272"/>
            <a:ext cx="2788920" cy="2148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5" name="Shape 49"/>
          <p:cNvSpPr/>
          <p:nvPr/>
        </p:nvSpPr>
        <p:spPr>
          <a:xfrm>
            <a:off x="6217920" y="4462272"/>
            <a:ext cx="27889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6" name="Text 50"/>
          <p:cNvSpPr/>
          <p:nvPr/>
        </p:nvSpPr>
        <p:spPr>
          <a:xfrm>
            <a:off x="6217920" y="4480560"/>
            <a:ext cx="27889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(Q5–Q6)</a:t>
            </a:r>
            <a:endParaRPr lang="en-US" sz="950" dirty="0"/>
          </a:p>
        </p:txBody>
      </p:sp>
      <p:sp>
        <p:nvSpPr>
          <p:cNvPr id="57" name="Text 51"/>
          <p:cNvSpPr/>
          <p:nvPr/>
        </p:nvSpPr>
        <p:spPr>
          <a:xfrm>
            <a:off x="6217920" y="4919472"/>
            <a:ext cx="27889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Use Cases 3–4</a:t>
            </a:r>
            <a:endParaRPr lang="en-US" sz="1100" dirty="0"/>
          </a:p>
        </p:txBody>
      </p:sp>
      <p:sp>
        <p:nvSpPr>
          <p:cNvPr id="58" name="Text 52"/>
          <p:cNvSpPr/>
          <p:nvPr/>
        </p:nvSpPr>
        <p:spPr>
          <a:xfrm>
            <a:off x="6355080" y="5230368"/>
            <a:ext cx="2514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AI live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optimization live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measurement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9006840" y="5349240"/>
            <a:ext cx="0" cy="0"/>
          </a:xfrm>
          <a:prstGeom prst="line">
            <a:avLst/>
          </a:prstGeom>
          <a:noFill/>
          <a:ln w="6350">
            <a:solidFill>
              <a:srgbClr val="059669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9189720" y="4462272"/>
            <a:ext cx="2788920" cy="21488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1" name="Shape 55"/>
          <p:cNvSpPr/>
          <p:nvPr/>
        </p:nvSpPr>
        <p:spPr>
          <a:xfrm>
            <a:off x="9189720" y="4462272"/>
            <a:ext cx="2788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2" name="Text 56"/>
          <p:cNvSpPr/>
          <p:nvPr/>
        </p:nvSpPr>
        <p:spPr>
          <a:xfrm>
            <a:off x="9189720" y="4480560"/>
            <a:ext cx="27889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(Q7+)</a:t>
            </a:r>
            <a:endParaRPr lang="en-US" sz="950" dirty="0"/>
          </a:p>
        </p:txBody>
      </p:sp>
      <p:sp>
        <p:nvSpPr>
          <p:cNvPr id="63" name="Text 57"/>
          <p:cNvSpPr/>
          <p:nvPr/>
        </p:nvSpPr>
        <p:spPr>
          <a:xfrm>
            <a:off x="9189720" y="4919472"/>
            <a:ext cx="27889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Optimise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9326880" y="5230368"/>
            <a:ext cx="2514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full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self-tuning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sinter</a:t>
            </a:r>
            <a:endParaRPr lang="en-US" sz="900" dirty="0"/>
          </a:p>
        </p:txBody>
      </p:sp>
      <p:sp>
        <p:nvSpPr>
          <p:cNvPr id="65" name="Shape 59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66" name="Text 60"/>
          <p:cNvSpPr/>
          <p:nvPr/>
        </p:nvSpPr>
        <p:spPr>
          <a:xfrm>
            <a:off x="274320" y="6592824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Capgemini Engineering &amp; AI Practice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058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AI-POWERED PELLET PLANT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6276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THE RIGHT DATA, THE RIGHT SENSORS, AND THE RIGHT PARTNER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3337560" cy="2651760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31720"/>
            <a:ext cx="333756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Shape 7"/>
          <p:cNvSpPr/>
          <p:nvPr/>
        </p:nvSpPr>
        <p:spPr>
          <a:xfrm>
            <a:off x="2176272" y="2176272"/>
            <a:ext cx="457200" cy="45720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217627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3063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Audit &amp; Gap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017520"/>
            <a:ext cx="3063240" cy="1828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existing sensor coverage vs recommended list. Identify gaps. Procurement &amp; installation plan (est. 8-12 weeks).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331720"/>
            <a:ext cx="3337560" cy="2651760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2331720"/>
            <a:ext cx="333756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3"/>
          <p:cNvSpPr/>
          <p:nvPr/>
        </p:nvSpPr>
        <p:spPr>
          <a:xfrm>
            <a:off x="5833872" y="2176272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83387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2514600"/>
            <a:ext cx="3063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Infrastructure Setup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3063240" cy="1828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OSIsoft PI / cloud historian. Data quality validation. Feature store setup. Baseline model training on 24 months historical data.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2331720"/>
            <a:ext cx="3337560" cy="2651760"/>
          </a:xfrm>
          <a:prstGeom prst="rect">
            <a:avLst/>
          </a:prstGeom>
          <a:solidFill>
            <a:srgbClr val="0D2451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2331720"/>
            <a:ext cx="3337560" cy="640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Shape 19"/>
          <p:cNvSpPr/>
          <p:nvPr/>
        </p:nvSpPr>
        <p:spPr>
          <a:xfrm>
            <a:off x="9491472" y="2176272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949147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83880" y="2514600"/>
            <a:ext cx="3063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90 Days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83880" y="3017520"/>
            <a:ext cx="3063240" cy="1828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Furnace Fuel Optimization on 1 strand. Measure fuel saving. Demonstrate ₹10-15 Cr annualised impact. Greenlight for full rollout.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45920" y="5166360"/>
            <a:ext cx="8869680" cy="107899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6" name="Text 24"/>
          <p:cNvSpPr/>
          <p:nvPr/>
        </p:nvSpPr>
        <p:spPr>
          <a:xfrm>
            <a:off x="1645920" y="5257800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₹112–154 Crore per year  ·  Payback in &lt;8 months  ·  IRR &gt;180%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45920" y="56875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 · 8 MTPA basis · Capgemini will co-invest in PoC outcomes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D2451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6556248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NOT FOR EXTERNAL DISTRIBUTION  ·  Prepared by Capgemini Engineering &amp; AI Practice  ·  AM/NS Vizag  ·  2025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PELLET-IQ AI Transformation — AM/NS Vizag</dc:title>
  <dc:subject>PptxGenJS Presentation</dc:subject>
  <dc:creator>Capgemini Engineering &amp; AI Practice</dc:creator>
  <cp:lastModifiedBy>Capgemini Engineering &amp; AI Practice</cp:lastModifiedBy>
  <cp:revision>1</cp:revision>
  <dcterms:created xsi:type="dcterms:W3CDTF">2026-04-24T05:04:06Z</dcterms:created>
  <dcterms:modified xsi:type="dcterms:W3CDTF">2026-04-24T05:04:06Z</dcterms:modified>
</cp:coreProperties>
</file>