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OHP+Grind</c:v>
                </c:pt>
                <c:pt idx="1">
                  <c:v>Slurry+Filter</c:v>
                </c:pt>
                <c:pt idx="2">
                  <c:v>Green Ball</c:v>
                </c:pt>
                <c:pt idx="3">
                  <c:v>Furnace</c:v>
                </c:pt>
                <c:pt idx="4">
                  <c:v>Cooler+Screen</c:v>
                </c:pt>
                <c:pt idx="5">
                  <c:v>Quality Lab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2.18</c:v>
                </c:pt>
                <c:pt idx="1">
                  <c:v>2.23</c:v>
                </c:pt>
                <c:pt idx="2">
                  <c:v>0.95</c:v>
                </c:pt>
                <c:pt idx="3">
                  <c:v>5.65</c:v>
                </c:pt>
                <c:pt idx="4">
                  <c:v>1.3</c:v>
                </c:pt>
                <c:pt idx="5">
                  <c:v>3.05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Energy Saving (%)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LKAB</c:v>
                  </c:pt>
                  <c:pt idx="1">
                    <c:v>Vale</c:v>
                  </c:pt>
                  <c:pt idx="2">
                    <c:v>Cliffs</c:v>
                  </c:pt>
                  <c:pt idx="3">
                    <c:v>Samarco</c:v>
                  </c:pt>
                  <c:pt idx="4">
                    <c:v>JSPL</c:v>
                  </c:pt>
                  <c:pt idx="5">
                    <c:v>AM/NS tgt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7</c:v>
                </c:pt>
                <c:pt idx="2">
                  <c:v>5</c:v>
                </c:pt>
                <c:pt idx="3">
                  <c:v>8</c:v>
                </c:pt>
                <c:pt idx="4">
                  <c:v>4</c:v>
                </c:pt>
                <c:pt idx="5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CCS Improvement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LKAB</c:v>
                  </c:pt>
                  <c:pt idx="1">
                    <c:v>Vale</c:v>
                  </c:pt>
                  <c:pt idx="2">
                    <c:v>Cliffs</c:v>
                  </c:pt>
                  <c:pt idx="3">
                    <c:v>Samarco</c:v>
                  </c:pt>
                  <c:pt idx="4">
                    <c:v>JSPL</c:v>
                  </c:pt>
                  <c:pt idx="5">
                    <c:v>AM/NS tgt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5</c:v>
                </c:pt>
                <c:pt idx="3">
                  <c:v>9</c:v>
                </c:pt>
                <c:pt idx="4">
                  <c:v>5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474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74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3474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3474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34640" y="34747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7947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947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37947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37947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379476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411480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4348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4348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54480" y="44348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44348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443484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754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754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4754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4754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475488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5074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074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54480" y="5074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5074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5074920"/>
            <a:ext cx="54864" cy="5486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572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DIGITAL TWIN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" y="91440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Pellet Plant
</a:t>
            </a:r>
            <a:endParaRPr lang="en-US" sz="32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Infrastructure,</a:t>
            </a:r>
            <a:endParaRPr lang="en-US" sz="32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&amp; Industry Benchmarks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2004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India · Vizag · 8 MTPA · Straight Grate Technology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0040" y="3154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Digital Twin Deployment · 2025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06240" y="502920"/>
            <a:ext cx="219456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206240" y="502920"/>
            <a:ext cx="21945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777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320+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206240" y="1508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Deployed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502920"/>
            <a:ext cx="219456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629400" y="502920"/>
            <a:ext cx="219456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777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₹12–18 Cr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629400" y="1508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CapEx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206240" y="2514600"/>
            <a:ext cx="219456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206240" y="2514600"/>
            <a:ext cx="21945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MTPA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420624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Capacity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629400" y="2514600"/>
            <a:ext cx="2194560" cy="1737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629400" y="2514600"/>
            <a:ext cx="21945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27889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Zones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6629400" y="3520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Sections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• Process Control • Industrial IoT • Real-Time Analytics • Predictive Maintenance • AI/ML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Sensor Architecture — 8 MTPA Pellet Plant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placement across 7 process zones | Total: 320+ instruments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1170432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601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OHP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99032" y="1184148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572768"/>
            <a:ext cx="402336" cy="329184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508760" y="960120"/>
            <a:ext cx="117043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9601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79192" y="1184148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92808" y="1572768"/>
            <a:ext cx="402336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92808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88920" y="960120"/>
            <a:ext cx="1170432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9601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59352" y="1184148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2968" y="1572768"/>
            <a:ext cx="402336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72968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88920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069080" y="960120"/>
            <a:ext cx="1170432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9601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39512" y="1184148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3128" y="1572768"/>
            <a:ext cx="402336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53128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49240" y="960120"/>
            <a:ext cx="1170432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9601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519672" y="1184148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33288" y="1572768"/>
            <a:ext cx="402336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3288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29400" y="960120"/>
            <a:ext cx="117043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9601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Cooler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99832" y="1184148"/>
            <a:ext cx="10972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13448" y="1572768"/>
            <a:ext cx="402336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13448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629400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909560" y="960120"/>
            <a:ext cx="1170432" cy="5029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9560" y="96012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293608" y="1572768"/>
            <a:ext cx="402336" cy="329184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93608" y="15727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909560" y="193852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8600" y="2057400"/>
            <a:ext cx="278892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2057400"/>
            <a:ext cx="278892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" y="2148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331720" y="2148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units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0040" y="24414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Thermocouple K-type (furnace)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20040" y="2624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RTD Pt100 (slurry/cooler)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20040" y="28072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IR Pyrometer (firing zone)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0040" y="29900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Thermal Imaging Camera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0" y="2057400"/>
            <a:ext cx="278892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0" y="2057400"/>
            <a:ext cx="278892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2148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303520" y="2148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units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291840" y="24414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Differential pressure transmitter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91840" y="2624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Absolute pressure (vacuum)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91840" y="28072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Manometric gauge + transmitter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291840" y="29900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Draft pressure (furnace zones)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172200" y="2057400"/>
            <a:ext cx="278892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72200" y="2057400"/>
            <a:ext cx="278892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45352" y="21488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275320" y="2148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units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63640" y="24414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Electromagnetic (slurry, EM)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263640" y="2624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Coriolis mass flow (fuel gas)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263640" y="28072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Vortex (steam/air)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263640" y="29900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Ultrasonic (water, clean liquid)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28600" y="3429000"/>
            <a:ext cx="278892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28600" y="3429000"/>
            <a:ext cx="278892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01752" y="3520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&amp; WEIGHT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2331720" y="35204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units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20040" y="38130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FMCW Radar (silos, tanks)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20040" y="39959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Load cell / belt weigher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320040" y="41788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Ultrasonic level gauge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20040" y="43616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Nuclear gamma level (slurry)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00400" y="3429000"/>
            <a:ext cx="278892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200400" y="3429000"/>
            <a:ext cx="27889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73552" y="3520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ANALYSIS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303520" y="35204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units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3291840" y="38130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On-line XRF (Fe, SiO₂, CaO)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3291840" y="39959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NIR moisture (belt/inline)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291840" y="41788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Blaine fineness (laser)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291840" y="43616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Vision system (PSD / shape)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172200" y="3429000"/>
            <a:ext cx="2788920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6172200" y="3429000"/>
            <a:ext cx="278892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45352" y="3520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&amp; MOTION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8275320" y="35204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units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263640" y="381304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ICP accelerometer (bearings)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6263640" y="39959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WirelessHART vibration node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63640" y="417880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Tachometer / speed encoder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263640" y="436168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Acoustic emission (cracks)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&amp; 2: Raw Material Handling + Grinding Mill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OHP · Stacker Reclaimer · Silos · Blending · Ball Mill · Classifier — 70 Instruments Total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OHP &amp; STACKER RECLAIMER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61288"/>
          <a:ext cx="5394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874520"/>
                <a:gridCol w="548640"/>
                <a:gridCol w="1280160"/>
              </a:tblGrid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/ Instrument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Belt Weigher (4-idler frame)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±0.25%, 500–2000 t/h range, 4-20mA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₹8–12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Reclaimer Angle Encoder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Absolute, 0–360°, ±0.1°, IP65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₹2–4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Silo Level Radar (FMCW)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80GHz, 0–30m, ±10mm, HART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₹3–5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NIR Moisture (On-conveyor)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Near-infrared, 0–30%, ±0.3%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₹15–22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Reclaimer Speed Tachometer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Inductive pulse, 0–500 rpm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₹0.5–1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Bearing Vibration (ICP)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3-axis, 0.5Hz–10kHz, IP67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₹3–6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Dust Opacity Monitor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Laser, 0–100%, 4-20mA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₹6–10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Stockpile Load Cell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 0–200t, ±0.1%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₹1.5–3 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715000" y="868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 MILL &amp; CLASSIFIER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16128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161288"/>
            <a:ext cx="36576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21615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 Vibration (ICP)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60720" y="149047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3-axis, 10Hz–10kHz, IP67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7379208" y="116128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79208" y="1161288"/>
            <a:ext cx="36576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0648" y="121615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 Power Transducer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470648" y="149047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analyzer, ±0.5%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5669280" y="198424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1984248"/>
            <a:ext cx="36576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03911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 Sound Level Meter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60720" y="231343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50–140 dB, 4-20mA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7379208" y="198424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79208" y="1984248"/>
            <a:ext cx="36576" cy="7132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70648" y="203911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Blaine Fineness (On-line)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470648" y="231343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diffraction, ±15 cm²/g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5669280" y="280720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0" y="2807208"/>
            <a:ext cx="36576" cy="7132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28620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Speed Encoder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760720" y="313639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feedback, 0–800 rpm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7379208" y="280720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79208" y="2807208"/>
            <a:ext cx="36576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70648" y="28620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 Temperature (RTD)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470648" y="313639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Pt100, 0–200°C, ±0.5°C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5669280" y="363016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0" y="3630168"/>
            <a:ext cx="36576" cy="7132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60720" y="36850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Flow (Mag EM)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760720" y="395935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DN50-100, 0.5–30m³/h, ±0.3%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7379208" y="363016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379208" y="3630168"/>
            <a:ext cx="36576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70648" y="36850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Diff. Pressure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470648" y="395935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 mbar, 4-20mA, HART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228600" y="3840480"/>
            <a:ext cx="5394960" cy="1097280"/>
          </a:xfrm>
          <a:prstGeom prst="rect">
            <a:avLst/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3931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&amp; 2 COST SUMMARY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scales + NIR moisture: </a:t>
            </a:r>
            <a:endParaRPr lang="en-US" sz="780" dirty="0"/>
          </a:p>
        </p:txBody>
      </p:sp>
      <p:sp>
        <p:nvSpPr>
          <p:cNvPr id="44" name="Text 41"/>
          <p:cNvSpPr/>
          <p:nvPr/>
        </p:nvSpPr>
        <p:spPr>
          <a:xfrm>
            <a:off x="2423160" y="4224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₹80–110 L</a:t>
            </a:r>
            <a:endParaRPr lang="en-US" sz="780" dirty="0"/>
          </a:p>
        </p:txBody>
      </p:sp>
      <p:sp>
        <p:nvSpPr>
          <p:cNvPr id="45" name="Text 42"/>
          <p:cNvSpPr/>
          <p:nvPr/>
        </p:nvSpPr>
        <p:spPr>
          <a:xfrm>
            <a:off x="3108960" y="42245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+ encoders (18×): </a:t>
            </a:r>
            <a:endParaRPr lang="en-US" sz="780" dirty="0"/>
          </a:p>
        </p:txBody>
      </p:sp>
      <p:sp>
        <p:nvSpPr>
          <p:cNvPr id="46" name="Text 43"/>
          <p:cNvSpPr/>
          <p:nvPr/>
        </p:nvSpPr>
        <p:spPr>
          <a:xfrm>
            <a:off x="5120640" y="4224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₹65–100 L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411480" y="4443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radars + load cells (11×): </a:t>
            </a:r>
            <a:endParaRPr lang="en-US" sz="780" dirty="0"/>
          </a:p>
        </p:txBody>
      </p:sp>
      <p:sp>
        <p:nvSpPr>
          <p:cNvPr id="48" name="Text 45"/>
          <p:cNvSpPr/>
          <p:nvPr/>
        </p:nvSpPr>
        <p:spPr>
          <a:xfrm>
            <a:off x="2423160" y="44439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₹55–80 L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3108960" y="44439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 instruments (8×): </a:t>
            </a:r>
            <a:endParaRPr lang="en-US" sz="780" dirty="0"/>
          </a:p>
        </p:txBody>
      </p:sp>
      <p:sp>
        <p:nvSpPr>
          <p:cNvPr id="50" name="Text 47"/>
          <p:cNvSpPr/>
          <p:nvPr/>
        </p:nvSpPr>
        <p:spPr>
          <a:xfrm>
            <a:off x="5120640" y="44439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₹35–55 L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411480" y="4663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1+2 Total: 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2697480" y="46634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₹2.35–3.45 Cr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5669280" y="3840480"/>
            <a:ext cx="324612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5669280" y="3840480"/>
            <a:ext cx="324612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806440" y="3931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GRINDING ZONE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806440" y="4224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Blaine meter (on-line): 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909560" y="4224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₹40–65 L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806440" y="44439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+ power (8×): </a:t>
            </a:r>
            <a:endParaRPr lang="en-US" sz="800" dirty="0"/>
          </a:p>
        </p:txBody>
      </p:sp>
      <p:sp>
        <p:nvSpPr>
          <p:cNvPr id="59" name="Text 56"/>
          <p:cNvSpPr/>
          <p:nvPr/>
        </p:nvSpPr>
        <p:spPr>
          <a:xfrm>
            <a:off x="7909560" y="4443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₹20–35 L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5806440" y="46634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Total: 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7909560" y="4663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₹0.75–1.25 Cr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3–5: Slurry Formation · Filtration · Green Ball Formation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circuit · Disc vacuum filter · Cake formation · Pugmill · Disc balling — 104 instruments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&amp; FILTRATION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61288"/>
          <a:ext cx="5349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938528"/>
                <a:gridCol w="457200"/>
                <a:gridCol w="126187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Meter (Coriolis/Nuclear)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Slurry 1.0–2.0 g/cm³, ±0.001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₹12–25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Analyzer (In-line electrode)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0–14, ±0.02, 4-20mA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₹1.5–3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Electromagnetic Flow Meter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DN50-150, ±0.3% FS, HART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₹2–6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Viscosity Meter (Torsional)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1–10,000 cP, IP67, 4-20mA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₹8–15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 Pressure Transmitter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0–1000 mmHg abs., SS316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₹1–2.5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Cake Moisture NIR (On-belt)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0–25% moisture, ±0.3%, inline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₹18–30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Cloth Wear (Acoustic)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Acoustic emission, IPM 0–100%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₹4–8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Slurry Temperature RTD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Pt100, 0–80°C, ±0.3°C, dip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₹0.4–0.8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0" y="868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FORMATION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0" y="116128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161288"/>
            <a:ext cx="36576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121615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Inclination Sensor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60720" y="149047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0–60°, ±0.1°, IP65</a:t>
            </a:r>
            <a:endParaRPr lang="en-US" sz="680" dirty="0"/>
          </a:p>
        </p:txBody>
      </p:sp>
      <p:sp>
        <p:nvSpPr>
          <p:cNvPr id="13" name="Shape 10"/>
          <p:cNvSpPr/>
          <p:nvPr/>
        </p:nvSpPr>
        <p:spPr>
          <a:xfrm>
            <a:off x="7379208" y="116128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79208" y="1161288"/>
            <a:ext cx="36576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70648" y="121615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On-line PSD Analyzer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470648" y="149047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Laser, 2–40mm, real-time</a:t>
            </a:r>
            <a:endParaRPr lang="en-US" sz="680" dirty="0"/>
          </a:p>
        </p:txBody>
      </p:sp>
      <p:sp>
        <p:nvSpPr>
          <p:cNvPr id="17" name="Shape 14"/>
          <p:cNvSpPr/>
          <p:nvPr/>
        </p:nvSpPr>
        <p:spPr>
          <a:xfrm>
            <a:off x="5669280" y="198424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669280" y="1984248"/>
            <a:ext cx="36576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203911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Burst Tester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60720" y="231343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Auto, 0–200N, statistical</a:t>
            </a:r>
            <a:endParaRPr lang="en-US" sz="680" dirty="0"/>
          </a:p>
        </p:txBody>
      </p:sp>
      <p:sp>
        <p:nvSpPr>
          <p:cNvPr id="21" name="Shape 18"/>
          <p:cNvSpPr/>
          <p:nvPr/>
        </p:nvSpPr>
        <p:spPr>
          <a:xfrm>
            <a:off x="7379208" y="198424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79208" y="1984248"/>
            <a:ext cx="36576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70648" y="203911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Speed Tachometer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470648" y="231343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Magnetic, 0–20rpm, IP65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5669280" y="280720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0" y="2807208"/>
            <a:ext cx="36576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0" y="28620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Spray Flow (Coriolis)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760720" y="313639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0–50 l/h, ±0.1% FS</a:t>
            </a:r>
            <a:endParaRPr lang="en-US" sz="680" dirty="0"/>
          </a:p>
        </p:txBody>
      </p:sp>
      <p:sp>
        <p:nvSpPr>
          <p:cNvPr id="29" name="Shape 26"/>
          <p:cNvSpPr/>
          <p:nvPr/>
        </p:nvSpPr>
        <p:spPr>
          <a:xfrm>
            <a:off x="7379208" y="280720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79208" y="2807208"/>
            <a:ext cx="36576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70648" y="28620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Moisture (On-belt NIR)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470648" y="313639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0–20%, ±0.2%, real-time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5669280" y="363016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0" y="3630168"/>
            <a:ext cx="36576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760720" y="36850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Bentonite Feeder Scale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760720" y="395935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Loss-in-weight, ±0.1%</a:t>
            </a:r>
            <a:endParaRPr lang="en-US" sz="680" dirty="0"/>
          </a:p>
        </p:txBody>
      </p:sp>
      <p:sp>
        <p:nvSpPr>
          <p:cNvPr id="37" name="Shape 34"/>
          <p:cNvSpPr/>
          <p:nvPr/>
        </p:nvSpPr>
        <p:spPr>
          <a:xfrm>
            <a:off x="7379208" y="3630168"/>
            <a:ext cx="1618488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379208" y="3630168"/>
            <a:ext cx="36576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70648" y="36850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 Recycle Counter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470648" y="3959352"/>
            <a:ext cx="143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Photoelectric, event+rate</a:t>
            </a:r>
            <a:endParaRPr lang="en-US" sz="680" dirty="0"/>
          </a:p>
        </p:txBody>
      </p:sp>
      <p:sp>
        <p:nvSpPr>
          <p:cNvPr id="41" name="Shape 38"/>
          <p:cNvSpPr/>
          <p:nvPr/>
        </p:nvSpPr>
        <p:spPr>
          <a:xfrm>
            <a:off x="228600" y="3858768"/>
            <a:ext cx="5349240" cy="1005840"/>
          </a:xfrm>
          <a:prstGeom prst="rect">
            <a:avLst/>
          </a:prstGeom>
          <a:solidFill>
            <a:srgbClr val="F0FDF4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39319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SLURRY &amp; FILTRATION COST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422452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+ pH + Flow meters: 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3429000" y="42245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₹85–120 L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11480" y="43754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 moisture + viscosity: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429000" y="437540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₹55–90 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11480" y="45262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+ cloth monitors: 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429000" y="45262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₹30–55 L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11480" y="467715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3–4 Total: 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3429000" y="467715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₹1.70–2.65 Cr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5669280" y="3858768"/>
            <a:ext cx="3246120" cy="100584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806440" y="39319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BALL ZONE COST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5806440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Analyzer (on-line): 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8001000" y="4224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₹45–70 L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806440" y="44256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+ GB instruments (8×): 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001000" y="44256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₹20–35 L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806440" y="46268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5 Total: 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8001000" y="46268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₹0.70–1.20 Cr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6: Indurating Furnace — Critical Instrumentation (86 sensors)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sensor-dense zone · 7 thermal zones · Peak 1310°C · Fuel &amp; emission monitoring critical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1170432" cy="548640"/>
          </a:xfrm>
          <a:prstGeom prst="rect">
            <a:avLst/>
          </a:prstGeom>
          <a:solidFill>
            <a:srgbClr val="2D6FD4"/>
          </a:solidFill>
          <a:ln w="12700">
            <a:solidFill>
              <a:srgbClr val="2D6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UDZ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280°C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0936" y="1508760"/>
            <a:ext cx="365760" cy="274320"/>
          </a:xfrm>
          <a:prstGeom prst="ellipse">
            <a:avLst/>
          </a:prstGeom>
          <a:solidFill>
            <a:srgbClr val="2D6FD4"/>
          </a:solidFill>
          <a:ln w="12700">
            <a:solidFill>
              <a:srgbClr val="2D6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99032" y="1161288"/>
            <a:ext cx="8229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81328" y="914400"/>
            <a:ext cx="1170432" cy="548640"/>
          </a:xfrm>
          <a:prstGeom prst="rect">
            <a:avLst/>
          </a:prstGeom>
          <a:solidFill>
            <a:srgbClr val="2D6FD4"/>
          </a:solidFill>
          <a:ln w="12700">
            <a:solidFill>
              <a:srgbClr val="2D6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91440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410°C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83664" y="1508760"/>
            <a:ext cx="365760" cy="274320"/>
          </a:xfrm>
          <a:prstGeom prst="ellipse">
            <a:avLst/>
          </a:prstGeom>
          <a:solidFill>
            <a:srgbClr val="2D6FD4"/>
          </a:solidFill>
          <a:ln w="12700">
            <a:solidFill>
              <a:srgbClr val="2D6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1161288"/>
            <a:ext cx="8229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34056" y="914400"/>
            <a:ext cx="117043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34056" y="91440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860°C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36392" y="1508760"/>
            <a:ext cx="36576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04488" y="1161288"/>
            <a:ext cx="8229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86784" y="914400"/>
            <a:ext cx="1170432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86784" y="91440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1050°C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389120" y="1508760"/>
            <a:ext cx="36576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57216" y="1161288"/>
            <a:ext cx="8229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9512" y="914400"/>
            <a:ext cx="1170432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9512" y="91440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1285°C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41848" y="1508760"/>
            <a:ext cx="365760" cy="2743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41848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9944" y="1161288"/>
            <a:ext cx="8229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914400"/>
            <a:ext cx="1170432" cy="54864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91440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1260°C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94576" y="1508760"/>
            <a:ext cx="365760" cy="27432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457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662672" y="1161288"/>
            <a:ext cx="82296" cy="457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44968" y="914400"/>
            <a:ext cx="1170432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44968" y="914400"/>
            <a:ext cx="1170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Z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850°C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147304" y="1508760"/>
            <a:ext cx="36576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4730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719072"/>
          <a:ext cx="8686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46120"/>
                <a:gridCol w="502920"/>
                <a:gridCol w="2926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Thermocouple K-type (Zone temps)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ASTM E230, 0–1400°C, ±2°C. Min 14 in firing.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₹0.5–2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Pyrometer (Non-contact)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0.85μm, 600–1600°C, fast response &lt;1s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₹8–18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Flow Meter (Fuel, Coriolis)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±0.1%, NG/BFG/LDO, 4-20mA+HART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₹15–30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O₂ Zirconia Analyzer (In-situ)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0–21%, response &lt;5s, 4-20mA, ±0.1%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₹8–15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CO/CO₂ Analyzer (NDIR)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0–5% CO, 0–20% CO₂, MODBUS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₹12–22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 Gas Pressure Transmitter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Differential, 0–500 mbar, HART, IP67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₹1–2.5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Grate Speed Resolver/Encoder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 m/min, 0.01mm resolution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₹5–10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Height Ultrasonic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100–300mm, IP68, 4-20mA, ±1mm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₹3–6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NOx Analyzer (UV-DOAS)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0–500 mg/Nm³, ENS-certified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₹25–40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Camera (Zone imaging)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640×480 IR, 0–1500°C, Ethernet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₹20–40 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228600" y="4535424"/>
            <a:ext cx="8686800" cy="384048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11480" y="45537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ZONE TOTAL: ₹4.50–6.80 Cr  |  Thermocouples 68×: ₹0.80–1.36 Cr  |  Gas Analyzers 22×: ₹2.64–4.06 Cr  |  Thermal Cameras 4×: ₹0.80–1.60 Cr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Sensor Investment — 8 MTPA Pellet Plant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estimate · Process instrumentation only · Excludes DCS/SCADA/network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14400"/>
            <a:ext cx="3200400" cy="22860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515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SENSOR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12 – 18 Cr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8 MTPA pellet plant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320+ instruments · 7 zones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914400"/>
          <a:ext cx="51663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777240"/>
                <a:gridCol w="1005840"/>
                <a:gridCol w="1051560"/>
              </a:tblGrid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(₹ 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(₹ Cr)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OHP &amp; Stacker Reclaimer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1.63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2.73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Grinding Mill &amp; Classifier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0.75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Slurry &amp; Disc Filtration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2.65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Ball Formation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0.70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Indurating Furnace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4.50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6.80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Cooler &amp; Screening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0.95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1.65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Control Lab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2.18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3.92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21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12.41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20.20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0" descr=""/>
          <p:cNvGraphicFramePr/>
          <p:nvPr/>
        </p:nvGraphicFramePr>
        <p:xfrm>
          <a:off x="365760" y="3291840"/>
          <a:ext cx="34747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3749040" y="3364992"/>
            <a:ext cx="5166360" cy="14813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886200" y="34564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INFRASTRUCTURE (All-In Digital Twin)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3886200" y="3749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DCS/PLC upgrades: ₹2–4 Cr</a:t>
            </a:r>
            <a:endParaRPr lang="en-US" sz="780" dirty="0"/>
          </a:p>
        </p:txBody>
      </p:sp>
      <p:sp>
        <p:nvSpPr>
          <p:cNvPr id="14" name="Text 10"/>
          <p:cNvSpPr/>
          <p:nvPr/>
        </p:nvSpPr>
        <p:spPr>
          <a:xfrm>
            <a:off x="6492240" y="37490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gateways + edge compute: ₹1.5–3.2 Cr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3886200" y="3950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(fiber+switches): ₹0.8–1.5 Cr</a:t>
            </a:r>
            <a:endParaRPr lang="en-US" sz="780" dirty="0"/>
          </a:p>
        </p:txBody>
      </p:sp>
      <p:sp>
        <p:nvSpPr>
          <p:cNvPr id="16" name="Text 12"/>
          <p:cNvSpPr/>
          <p:nvPr/>
        </p:nvSpPr>
        <p:spPr>
          <a:xfrm>
            <a:off x="6492240" y="3950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software platform: ₹1–3 Cr</a:t>
            </a:r>
            <a:endParaRPr lang="en-US" sz="780" dirty="0"/>
          </a:p>
        </p:txBody>
      </p:sp>
      <p:sp>
        <p:nvSpPr>
          <p:cNvPr id="17" name="Text 13"/>
          <p:cNvSpPr/>
          <p:nvPr/>
        </p:nvSpPr>
        <p:spPr>
          <a:xfrm>
            <a:off x="3886200" y="41513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commissioning: ₹2–4 Cr</a:t>
            </a:r>
            <a:endParaRPr lang="en-US" sz="780" dirty="0"/>
          </a:p>
        </p:txBody>
      </p:sp>
      <p:sp>
        <p:nvSpPr>
          <p:cNvPr id="18" name="Text 14"/>
          <p:cNvSpPr/>
          <p:nvPr/>
        </p:nvSpPr>
        <p:spPr>
          <a:xfrm>
            <a:off x="3886200" y="46817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TOTAL: 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086600" y="4681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₹20–35 Cr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371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Pellet Plant Digital Twin Deployments — Peer Industry Benchmarks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2120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iron pellet plant sensor networks &amp; digital twins are deployed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251960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25196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LKAB (Sweden)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80360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Scandinavia · 28 MTPA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731520" cy="17373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61872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Grate-Kiln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0040" y="1490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operational since 2018 at Malmberget &amp; Kiruna. Full sensor network with online XRF, thermal cameras, and acoustic monitors. Autonomous burn-control AI closed-loop since 2021.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17647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500+ sensors · On-line XRF · Thermal imaging · Vision PSD · WirelessHART vibration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0040" y="1938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8–12% fuel saving · ±2 daN CCS accuracy · 30% maintenance cost reduction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11880" y="1938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SIMATIC + AVEVA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251960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425196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058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(Brazil)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005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Tubarão, São Luís · 60 MTPA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731520" cy="1737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61872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Grate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754880" y="14904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replica at Tubarão (SV) &amp; São Luís plants. Connected to autonomous mine-to-port digital thread. AI quality prediction for DRI pellet specification compliance.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54880" y="176479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800+ sensors · On-line WDXRF · Coriolis fuel · Thermal cameras · Vibration mesh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54880" y="19385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6–8% energy reduction · +7% quality yield improvement · Maintenance ROI 3.2×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046720" y="1938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Rockwell Automation + Aspen Tech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28600" y="2304288"/>
            <a:ext cx="4251960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304288"/>
            <a:ext cx="425196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957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Cleveland-Cliffs (USA)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8036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Minorca + Tilden · 20 MTPA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731520" cy="17373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651760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Grate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" y="28803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platform deployed 2019–2022 across all pellet plants. EPA CEMS-compliant gas monitoring. Machine learning quality prediction integrated into furnace PLC control.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20040" y="315468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320+ sensors · Gas CEMS (CO, NOx, SO₂) · Thermal profiling · Level + weighers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0040" y="33284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4–6% production increase · Emission compliance cost −25% · OEE +3%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11880" y="33284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Vernova + Emerson DeltaV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663440" y="2304288"/>
            <a:ext cx="4251960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2304288"/>
            <a:ext cx="425196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3957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Samarco (Brazil)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0" y="23957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Germano / Ubu · 22 MTPA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54880" y="2651760"/>
            <a:ext cx="731520" cy="1737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51760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Grate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754880" y="28803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twin post-2019 re-commissioning. CCS prediction model integrated real-time with furnace setpoints. Closed-loop basicity control via online XRF.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54880" y="315468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400+ instruments · On-line CCS prediction · XRF basicity control · Gas analysis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754880" y="33284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9% CCS improvement vs pre-restart · −7% energy · Fuel curve optimization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046720" y="332841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800xA + Honeywell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28600" y="3694176"/>
            <a:ext cx="4251960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28600" y="3694176"/>
            <a:ext cx="42519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Jindal Steel &amp; Power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880360" y="37856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Odisha, India · 8 MTPA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20040" y="4041648"/>
            <a:ext cx="731520" cy="1737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040" y="404164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Grate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20040" y="4270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4.0 upgrade 2021–23. Level-2/3 automation integrated with digital historian. On-line quality monitoring. Targeting full DT by 2025.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0040" y="45445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~250 sensors · Gas analysis · Belt weighers · On-line moisture · Basic quality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20040" y="47183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3–5% productivity gain · Energy monitoring established · Targeting 6% reduction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611880" y="47183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SIMATIC PCS 7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663440" y="3694176"/>
            <a:ext cx="4251960" cy="12618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663440" y="3694176"/>
            <a:ext cx="4251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37856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KIOCL Ltd (India)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315200" y="37856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Mangalore · 3.5 MTPA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54880" y="4041648"/>
            <a:ext cx="731520" cy="1737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4041648"/>
            <a:ext cx="731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Grate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754880" y="427024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automation upgrade complete. MECON-assisted digital integration. Full sensor upgrade planned 2024–25 under National Steel Policy digitalization mandate.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4754880" y="45445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~120 sensors currently · Target 300+ · Thermocouples + basic flow+level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754880" y="471830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In progress · Targeting 5–8% energy reduction · MECON feasibility study done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046720" y="47183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BHEL + Siemens (planned)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Vendor Ecosystem &amp; Technology Selection Guide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suppliers by category · OEM benchmarks · India availability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834640" cy="19385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83464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1752" y="1335024"/>
            <a:ext cx="2743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35331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Endress+Hauser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5179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iTHERM TM411, Pt100/K-type, HART/4-20mA. India: Mumbai. Used SAIL, JSPL.</a:t>
            </a:r>
            <a:endParaRPr lang="en-US" sz="680" dirty="0"/>
          </a:p>
        </p:txBody>
      </p:sp>
      <p:sp>
        <p:nvSpPr>
          <p:cNvPr id="11" name="Shape 9"/>
          <p:cNvSpPr/>
          <p:nvPr/>
        </p:nvSpPr>
        <p:spPr>
          <a:xfrm>
            <a:off x="301752" y="1700784"/>
            <a:ext cx="2743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1907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Measurement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188366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TSP300 thermocouples, ±0.1°C, SIL2. Deployed LKAB, Vale furnaces.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301752" y="2066544"/>
            <a:ext cx="2743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0848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Jumo (Germany)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4048" y="224942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DELOS L series up to 1400°C. India distributor: Elicab Controls, Pune.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301752" y="2432304"/>
            <a:ext cx="2743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45059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Pyromation / Drager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" y="26151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High-temp IR pyrometers for firing zone &gt;1200°C. Non-contact.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3218688" y="914400"/>
            <a:ext cx="2834640" cy="19385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914400"/>
            <a:ext cx="283464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ANALYSIS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91840" y="1335024"/>
            <a:ext cx="2743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135331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AO2020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74136" y="15179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Multi-gas O₂/CO/CO₂, MODBUS/PROFIBUS. Industry standard pellet furnaces.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3291840" y="1700784"/>
            <a:ext cx="2743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171907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Emerson Rosemount 6888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74136" y="188366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In-situ zirconia O₂ probe, direct insertion, &lt;5s response, ±0.1%.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3291840" y="2066544"/>
            <a:ext cx="2743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74136" y="20848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SICK MERZ CEMS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74136" y="224942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emission monitoring, NO/NOx, ENS/TÜV certified. India: Gurgaon.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291840" y="2432304"/>
            <a:ext cx="2743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74136" y="245059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Yokogawa TDLS8000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74136" y="26151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diode laser, CO/NH₃/HF. Furnace atmosphere direct measurement.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6208776" y="914400"/>
            <a:ext cx="2834640" cy="19385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08776" y="914400"/>
            <a:ext cx="28346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1005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MEASUREMENT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81928" y="1335024"/>
            <a:ext cx="2743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135331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Endress+Hauser Promag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64224" y="15179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flow, slurry-rated, ±0.3%. Most-used in India pellet plants.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6281928" y="1700784"/>
            <a:ext cx="2743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64224" y="171907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Yokogawa ROTAMASS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364224" y="188366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Coriolis mass flow for fuel gas, ±0.1%, direct mass not volume.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6281928" y="2066544"/>
            <a:ext cx="2743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64224" y="20848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Krohne OPTISONIC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64224" y="224942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gas flow, custody transfer, DN50–DN600, clamp-on option.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6281928" y="2432304"/>
            <a:ext cx="2743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4224" y="245059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MAG 5100W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364224" y="26151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Water-cooled electrodes for high-temp abrasive slurry up to 80°C.</a:t>
            </a:r>
            <a:endParaRPr lang="en-US" sz="680" dirty="0"/>
          </a:p>
        </p:txBody>
      </p:sp>
      <p:sp>
        <p:nvSpPr>
          <p:cNvPr id="50" name="Shape 48"/>
          <p:cNvSpPr/>
          <p:nvPr/>
        </p:nvSpPr>
        <p:spPr>
          <a:xfrm>
            <a:off x="228600" y="2971800"/>
            <a:ext cx="2834640" cy="19385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28600" y="2971800"/>
            <a:ext cx="283464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&amp; WEIGHT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01752" y="3392424"/>
            <a:ext cx="274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" y="341071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VEGAPULS 69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84048" y="35753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80GHz FMCW radar, ±2mm, silo/tank. IP68. Used KIOCL, JSPL silos.</a:t>
            </a:r>
            <a:endParaRPr lang="en-US" sz="680" dirty="0"/>
          </a:p>
        </p:txBody>
      </p:sp>
      <p:sp>
        <p:nvSpPr>
          <p:cNvPr id="56" name="Shape 54"/>
          <p:cNvSpPr/>
          <p:nvPr/>
        </p:nvSpPr>
        <p:spPr>
          <a:xfrm>
            <a:off x="301752" y="3758184"/>
            <a:ext cx="274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" y="377647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Schenck Process / Siemens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84048" y="394106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weighers MSI, 4-idler, ±0.25%. Most-used belt scale India.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301752" y="4123944"/>
            <a:ext cx="274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41422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Berthold (Nuclear)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84048" y="430682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density/level for slurry tanks. Non-contact, no process penetration.</a:t>
            </a:r>
            <a:endParaRPr lang="en-US" sz="680" dirty="0"/>
          </a:p>
        </p:txBody>
      </p:sp>
      <p:sp>
        <p:nvSpPr>
          <p:cNvPr id="62" name="Shape 60"/>
          <p:cNvSpPr/>
          <p:nvPr/>
        </p:nvSpPr>
        <p:spPr>
          <a:xfrm>
            <a:off x="301752" y="4489704"/>
            <a:ext cx="2743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84048" y="450799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Sartorius / Mettler Toledo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84048" y="46725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Loss-in-weight feeders for bentonite dosing. ±0.1% accuracy.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3218688" y="2971800"/>
            <a:ext cx="2834640" cy="19385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218688" y="2971800"/>
            <a:ext cx="28346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0128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/ XRF / VISION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91840" y="3392424"/>
            <a:ext cx="274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74136" y="341071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 Fisher CrossBelt XRF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374136" y="35753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On-belt XRF, Fe/SiO₂/CaO/Al₂O₃. LKAB, Vale, Samarco deployed.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3291840" y="3758184"/>
            <a:ext cx="274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374136" y="377647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Malvern Panalytical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374136" y="394106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Epsilon XRF + Mastersizer PSD laser. Standard for quality lab.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3291840" y="4123944"/>
            <a:ext cx="274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374136" y="41422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 Technologies (NIR)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374136" y="430682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On-belt NIR moisture gauges, ±0.1%, pellet &amp; filter cake.</a:t>
            </a:r>
            <a:endParaRPr lang="en-US" sz="680" dirty="0"/>
          </a:p>
        </p:txBody>
      </p:sp>
      <p:sp>
        <p:nvSpPr>
          <p:cNvPr id="77" name="Shape 75"/>
          <p:cNvSpPr/>
          <p:nvPr/>
        </p:nvSpPr>
        <p:spPr>
          <a:xfrm>
            <a:off x="3291840" y="4489704"/>
            <a:ext cx="274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374136" y="450799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Cognex / Keyence Vision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374136" y="46725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for pellet size, shape detection on conveyor belt.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6208776" y="2971800"/>
            <a:ext cx="2834640" cy="193852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208776" y="2971800"/>
            <a:ext cx="283464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0216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&amp; CBM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281928" y="3392424"/>
            <a:ext cx="2743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64224" y="341071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SKF Multilog IMx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364224" y="357530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bearing monitor, vibration+temp, PROFIBUS. Used mill, fans, grate.</a:t>
            </a:r>
            <a:endParaRPr lang="en-US" sz="680" dirty="0"/>
          </a:p>
        </p:txBody>
      </p:sp>
      <p:sp>
        <p:nvSpPr>
          <p:cNvPr id="86" name="Shape 84"/>
          <p:cNvSpPr/>
          <p:nvPr/>
        </p:nvSpPr>
        <p:spPr>
          <a:xfrm>
            <a:off x="6281928" y="3758184"/>
            <a:ext cx="2743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364224" y="377647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Emerson AMS 9420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364224" y="394106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WirelessHART vibration, 2-year battery. Saves 30% cable installation cost.</a:t>
            </a:r>
            <a:endParaRPr lang="en-US" sz="680" dirty="0"/>
          </a:p>
        </p:txBody>
      </p:sp>
      <p:sp>
        <p:nvSpPr>
          <p:cNvPr id="89" name="Shape 87"/>
          <p:cNvSpPr/>
          <p:nvPr/>
        </p:nvSpPr>
        <p:spPr>
          <a:xfrm>
            <a:off x="6281928" y="4123944"/>
            <a:ext cx="2743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364224" y="414223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Brüel &amp; Kjær (HBK)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364224" y="430682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 ICP accelerometers, mill sound &amp; body vibration analysis.</a:t>
            </a:r>
            <a:endParaRPr lang="en-US" sz="680" dirty="0"/>
          </a:p>
        </p:txBody>
      </p:sp>
      <p:sp>
        <p:nvSpPr>
          <p:cNvPr id="92" name="Shape 90"/>
          <p:cNvSpPr/>
          <p:nvPr/>
        </p:nvSpPr>
        <p:spPr>
          <a:xfrm>
            <a:off x="6281928" y="4489704"/>
            <a:ext cx="2743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364224" y="4507992"/>
            <a:ext cx="26334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Instruments cDAQ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6364224" y="467258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 acquisition for multi-channel vibration + motor signature.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India Digital Twin — Phased Sensor Deployment Roadmap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implementation · Total 42 months · Phased CapEx · KPI milestones at each phase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0574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960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2344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618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Sensors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1892808"/>
            <a:ext cx="205740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Belt weighers + radar level (OHP)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01752" y="2331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Thermocouple upgrade (Furnace 68 TCs)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01752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Gas analyzers O₂/CO (6+6 units)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1752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Belt NIR moisture + conveyor sensors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01752" y="3374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DCS integration + process historian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28600" y="4160520"/>
            <a:ext cx="2057400" cy="502920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4178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₹4–6 Cr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" y="44074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baseline · Fuel monitoring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441448" y="960120"/>
            <a:ext cx="20574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41448" y="960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months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98848" y="12344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41448" y="1618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Analytics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41448" y="1892808"/>
            <a:ext cx="205740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14600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On-line XRF analyzer (cross-belt)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514600" y="2331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Slurry density + pH + EM flow (full)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514600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Disc filter moisture + cloth monitor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514600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Blaine fineness on-line (laser)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14600" y="3374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Edge compute + IIoT gateways deployed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441448" y="4160520"/>
            <a:ext cx="2057400" cy="50292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41448" y="4178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₹4–7 Cr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14600" y="44074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 ±8 daN · Energy −5%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654296" y="960120"/>
            <a:ext cx="205740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54296" y="960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 months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11696" y="1234440"/>
            <a:ext cx="15544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54296" y="1618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AI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54296" y="1892808"/>
            <a:ext cx="205740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27448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Vibration monitors (all rotating equip)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27448" y="2331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Thermal cameras (furnace, 4 units)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27448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Vision system (pellet PSD / conveyor)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27448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ML models: quality + energy + fault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27448" y="3374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Digital twin real-time sync active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54296" y="4160520"/>
            <a:ext cx="2057400" cy="50292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54296" y="4178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₹4–6 Cr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27448" y="44074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maint. ROI 3× · PSD AI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867144" y="960120"/>
            <a:ext cx="205740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67144" y="9601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30–42 months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67144" y="16184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Optimization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67144" y="1892808"/>
            <a:ext cx="2057400" cy="2240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40296" y="19842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Closed-loop AI control (furnace auto)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940296" y="2331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Autonomous grate speed + fuel opt.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40296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WHR steam optimization controller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940296" y="30266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Integrated plant-level optimizer AI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940296" y="3374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Operator training via digital twin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867144" y="4160520"/>
            <a:ext cx="2057400" cy="502920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67144" y="4178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₹2–4 Cr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40296" y="44074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8–12% energy saving · Closed loop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28600" y="4663440"/>
            <a:ext cx="8686800" cy="2926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46817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Siemens SIMATIC / ABB 800xA DCS  ·  AVEVA PI Historian  ·  AWS IoT / Azure IoT Hub  ·  Python ML  ·  PROFIBUS-PA / HART / WirelessHART / OPC-UA  ·  MODBUS TCP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Analysis &amp; Peer Industry Performance Benchmarks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LKAB · Vale · Cleveland-Cliffs · Samarco · JSPL published performance data · 2019–2024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2084832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084832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2412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 Reduction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82880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optimization AI control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41448" y="914400"/>
            <a:ext cx="2084832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914400"/>
            <a:ext cx="2084832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02412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41448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ROI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41448" y="182880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vs reactive maint.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54296" y="914400"/>
            <a:ext cx="2084832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914400"/>
            <a:ext cx="208483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02412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yrs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54296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Payback Period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54296" y="182880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DT total investment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67144" y="914400"/>
            <a:ext cx="2084832" cy="12070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67144" y="914400"/>
            <a:ext cx="208483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67144" y="1024128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₹45–80 Cr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67144" y="157276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 (8 MTPA)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67144" y="182880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+ quality + maintenance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212848"/>
          <a:ext cx="86868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51560"/>
                <a:gridCol w="1508760"/>
                <a:gridCol w="1097280"/>
                <a:gridCol w="868680"/>
                <a:gridCol w="24688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Saving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 Improvement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Maint. Saving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Maturity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LKAB (Sweden)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±4→±2 daN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30–40%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yrs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Full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(Brazil)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 yield +7%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yrs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 Full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Cleveland-Cliffs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±6→±3 daN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yrs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 Advanced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Samarco (Brazil)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CCS +9%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22–30%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yrs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 Advanced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Jindal Steel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 daN improv.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yrs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Growing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AM/NS India (Target)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±4 daN target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yrs est.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56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 → ★★★★★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Chart 0" descr=""/>
          <p:cNvGraphicFramePr/>
          <p:nvPr/>
        </p:nvGraphicFramePr>
        <p:xfrm>
          <a:off x="228600" y="4133088"/>
          <a:ext cx="8686800" cy="7863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Sensor Summary — AM/NS India Vizag · 8 MTPA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material to dispatch · 320+ sensors · ₹12–18 Cr CapEx · Full payback in 2.5 years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28346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44168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is the Priority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sensors in indurating furnace alone (27% of total). Gas analyzers, TCs, and thermal cameras deliver highest ROI through fuel optimization of 4–12% cost reduction.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1207008"/>
            <a:ext cx="28346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5848" y="1344168"/>
            <a:ext cx="402336" cy="402336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58768" y="1371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On-line XRF is Critical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28416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Fe/SiO₂/CaO measurement enables closed-loop basicity control. LKAB and Vale credit on-line XRF for CCS consistency improvement of ±4 → ±2 daN.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08776" y="1207008"/>
            <a:ext cx="28346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45936" y="1344168"/>
            <a:ext cx="402336" cy="40233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344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48856" y="13716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Your Investment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18504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TCs + gas analyzers + belt weighers (Phase 1, ₹4–6 Cr). Add quality analytics Phase 2. Full AI closed-loop in Phase 3–4 over 42 months.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3035808"/>
            <a:ext cx="28346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72968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Year Payback Industry Avg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" y="3657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LKAB full payback in 2.1 years. Vale: 2.5 yrs. Cleveland-Cliffs: 3.0 yrs. Proportional annual savings: ₹45–80 Cr at 8 MTPA operation.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3035808"/>
            <a:ext cx="28346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55848" y="3172968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58768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WirelessHART Reduces Cost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28416" y="3657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Emerson AMS 9420 wireless vibration saves 20–35% installation cost vs wired. Key for rotating equipment — mills, fans, cooler drives — where cabling is expensive.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08776" y="3035808"/>
            <a:ext cx="2834640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45936" y="317296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48856" y="3200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Vendor Ecosystem Ready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18504" y="3657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E+H, ABB, Siemens, Yokogawa have India offices and spares warehouses. BHEL + MECON provide DCS/SCADA integration. Import lead times: 8–14 weeks.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92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AM/NS India Digital Twin Program · Vizag · 8 MTPA · Confidential · 2025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489204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LKAB Annual Report | Vale Technology | Emerson | E+H | ABB | MECON Technical Reports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Sensors &amp; Digital Twin — AM/NS India Pellet Plant</dc:title>
  <dc:subject>PptxGenJS Presentation</dc:subject>
  <dc:creator>PptxGenJS</dc:creator>
  <cp:lastModifiedBy>PptxGenJS</cp:lastModifiedBy>
  <cp:revision>1</cp:revision>
  <dcterms:created xsi:type="dcterms:W3CDTF">2026-04-24T05:22:12Z</dcterms:created>
  <dcterms:modified xsi:type="dcterms:W3CDTF">2026-04-24T05:22:12Z</dcterms:modified>
</cp:coreProperties>
</file>